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2"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7545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uses Data Science to tackle water shortages and low crop production in agriculture. We cover the problem, the data, the analysis, the expected output, the challenges and the ethical concerns.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farmers sometimes do not have enough water, especially in the dry season, so crops grow poorly and harvests fall. This matters because water is essential, and shortages cost farmers income and make food harder to produce. The results would be used by farmers, agricultural organizations, government and researchers.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rainfall, temperature, soil moisture, crop type, water usage and historical production data. It can come from weather stations, soil sensors, farmers, government agricultural departments and satellites. The data mixes numerical, categorical, time-series, geospatial and date values.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Science can analyze water usage, rainfall and soil moisture; explain how shortages affect crops; predict future water needs, drought and yields; and recommend when to irrigate. The expected output is a smart irrigation dashboard showing current soil moisture, predicted water requirements, alerts, estimated crop production and irrigation recommendations. The example on the right is illustrative only.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farmers save water, reduce crop losses and improve production. Challenges: missing or inaccurate data, sensor cost, poor rural internet, unpredictable weather and limited technical knowledge. Ethical concerns: privacy, fair access for small farmers, data security, accuracy and transparency. Conclusion: by analyzing rainfall, temperature, soil moisture and crop data, we can help farmers make better irrigation decisions.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83CFC-69C0-7E11-5626-F15FBCEDD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F52BA-23AB-F163-CD1F-A030EDCAE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EC82FB-7C77-5B50-14E1-F9FDF97847AF}"/>
              </a:ext>
            </a:extLst>
          </p:cNvPr>
          <p:cNvSpPr>
            <a:spLocks noGrp="1"/>
          </p:cNvSpPr>
          <p:nvPr>
            <p:ph type="body" idx="1"/>
          </p:nvPr>
        </p:nvSpPr>
        <p:spPr/>
        <p:txBody>
          <a:bodyPr/>
          <a:lstStyle/>
          <a:p>
            <a:r>
              <a:rPr lang="en-US" dirty="0"/>
              <a:t>Benefits: farmers save water, reduce crop losses and improve production. Challenges: missing or inaccurate data, sensor cost, poor rural internet, unpredictable weather and limited technical knowledge. Ethical concerns: privacy, fair access for small farmers, data security, accuracy and transparency. Conclusion: by analyzing rainfall, temperature, soil moisture and crop data, we can help farmers make better irrigation decisions.</a:t>
            </a:r>
          </a:p>
        </p:txBody>
      </p:sp>
      <p:sp>
        <p:nvSpPr>
          <p:cNvPr id="4" name="Slide Number Placeholder 3">
            <a:extLst>
              <a:ext uri="{FF2B5EF4-FFF2-40B4-BE49-F238E27FC236}">
                <a16:creationId xmlns:a16="http://schemas.microsoft.com/office/drawing/2014/main" id="{72863006-691B-90CF-7383-3C673C553EA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744381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2A2E"/>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921"/>
            <a:ext cx="10566400" cy="4145279"/>
          </a:xfrm>
          <a:prstGeom prst="rect">
            <a:avLst/>
          </a:prstGeom>
          <a:noFill/>
          <a:ln/>
        </p:spPr>
        <p:txBody>
          <a:bodyPr wrap="square" lIns="0" tIns="0" rIns="0" bIns="0" rtlCol="0" anchor="t"/>
          <a:lstStyle>
            <a:lvl1pPr marL="0" indent="0" algn="l">
              <a:lnSpc>
                <a:spcPct val="140000"/>
              </a:lnSpc>
              <a:buNone/>
              <a:defRPr lang="en-US" sz="1600" dirty="0">
                <a:solidFill>
                  <a:srgbClr val="0F2A2E"/>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2A2E"/>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921"/>
            <a:ext cx="10566400" cy="4145279"/>
          </a:xfrm>
          <a:prstGeom prst="rect">
            <a:avLst/>
          </a:prstGeom>
          <a:noFill/>
          <a:ln/>
        </p:spPr>
        <p:txBody>
          <a:bodyPr wrap="square" lIns="0" tIns="0" rIns="0" bIns="0" rtlCol="0" anchor="t"/>
          <a:lstStyle>
            <a:lvl1pPr marL="0" indent="0" algn="l">
              <a:lnSpc>
                <a:spcPct val="140000"/>
              </a:lnSpc>
              <a:buNone/>
              <a:defRPr lang="en-US" sz="1600" dirty="0">
                <a:solidFill>
                  <a:srgbClr val="0F2A2E"/>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E"/>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7091680" y="1240118"/>
            <a:ext cx="3708400" cy="3708400"/>
          </a:xfrm>
          <a:prstGeom prst="rect">
            <a:avLst/>
          </a:prstGeom>
        </p:spPr>
      </p:pic>
      <p:pic>
        <p:nvPicPr>
          <p:cNvPr id="3" name="Image 1" descr="ellipse"/>
          <p:cNvPicPr>
            <a:picLocks noChangeAspect="1"/>
          </p:cNvPicPr>
          <p:nvPr/>
        </p:nvPicPr>
        <p:blipFill>
          <a:blip r:embed="rId4"/>
          <a:srcRect/>
          <a:stretch/>
        </p:blipFill>
        <p:spPr>
          <a:xfrm>
            <a:off x="9499600" y="614680"/>
            <a:ext cx="1270000" cy="1270000"/>
          </a:xfrm>
          <a:prstGeom prst="rect">
            <a:avLst/>
          </a:prstGeom>
        </p:spPr>
      </p:pic>
      <p:pic>
        <p:nvPicPr>
          <p:cNvPr id="4" name="Image 2" descr="Cloud"/>
          <p:cNvPicPr>
            <a:picLocks noChangeAspect="1"/>
          </p:cNvPicPr>
          <p:nvPr/>
        </p:nvPicPr>
        <p:blipFill>
          <a:blip r:embed="rId5"/>
          <a:srcRect/>
          <a:stretch/>
        </p:blipFill>
        <p:spPr>
          <a:xfrm>
            <a:off x="8280400" y="2291080"/>
            <a:ext cx="1270000" cy="1270000"/>
          </a:xfrm>
          <a:prstGeom prst="rect">
            <a:avLst/>
          </a:prstGeom>
        </p:spPr>
      </p:pic>
      <p:sp>
        <p:nvSpPr>
          <p:cNvPr id="5" name="Text 0"/>
          <p:cNvSpPr/>
          <p:nvPr/>
        </p:nvSpPr>
        <p:spPr>
          <a:xfrm>
            <a:off x="812800" y="1234440"/>
            <a:ext cx="627888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CC8B8"/>
                </a:solidFill>
                <a:latin typeface="Nunito Sans" pitchFamily="34" charset="0"/>
                <a:ea typeface="Nunito Sans" pitchFamily="34" charset="-122"/>
                <a:cs typeface="Nunito Sans" pitchFamily="34" charset="-120"/>
              </a:rPr>
              <a:t>DATA SCIENCE IN AGRICULTURE</a:t>
            </a:r>
            <a:endParaRPr lang="en-US" sz="1200" dirty="0"/>
          </a:p>
        </p:txBody>
      </p:sp>
      <p:pic>
        <p:nvPicPr>
          <p:cNvPr id="6" name="Image 3" descr="line"/>
          <p:cNvPicPr>
            <a:picLocks noChangeAspect="1"/>
          </p:cNvPicPr>
          <p:nvPr/>
        </p:nvPicPr>
        <p:blipFill>
          <a:blip r:embed="rId6"/>
          <a:srcRect/>
          <a:stretch/>
        </p:blipFill>
        <p:spPr>
          <a:xfrm>
            <a:off x="812800" y="1651000"/>
            <a:ext cx="762000" cy="50800"/>
          </a:xfrm>
          <a:prstGeom prst="rect">
            <a:avLst/>
          </a:prstGeom>
        </p:spPr>
      </p:pic>
      <p:sp>
        <p:nvSpPr>
          <p:cNvPr id="7" name="Text 1"/>
          <p:cNvSpPr>
            <a:spLocks noGrp="1"/>
          </p:cNvSpPr>
          <p:nvPr>
            <p:ph type="title"/>
          </p:nvPr>
        </p:nvSpPr>
        <p:spPr>
          <a:xfrm>
            <a:off x="812800" y="1905000"/>
            <a:ext cx="6278880" cy="203708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4F1E8"/>
                </a:solidFill>
                <a:latin typeface="Domine" pitchFamily="18" charset="0"/>
                <a:ea typeface="Domine" pitchFamily="18" charset="-122"/>
                <a:cs typeface="Domine" pitchFamily="18" charset="-120"/>
              </a:rPr>
              <a:t>Water Shortages and Low Crop Production</a:t>
            </a:r>
            <a:endParaRPr lang="en-US" sz="4800" dirty="0"/>
          </a:p>
        </p:txBody>
      </p:sp>
      <p:sp>
        <p:nvSpPr>
          <p:cNvPr id="8" name="Text 2"/>
          <p:cNvSpPr/>
          <p:nvPr/>
        </p:nvSpPr>
        <p:spPr>
          <a:xfrm>
            <a:off x="812800" y="3763682"/>
            <a:ext cx="62788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D8D5"/>
                </a:solidFill>
                <a:latin typeface="Nunito Sans" pitchFamily="34" charset="0"/>
                <a:ea typeface="Nunito Sans" pitchFamily="34" charset="-122"/>
                <a:cs typeface="Nunito Sans" pitchFamily="34" charset="-120"/>
              </a:rPr>
              <a:t>Using data to help farmers manage water and improve harvests</a:t>
            </a:r>
            <a:endParaRPr lang="en-US" sz="1600" dirty="0"/>
          </a:p>
        </p:txBody>
      </p:sp>
      <p:sp>
        <p:nvSpPr>
          <p:cNvPr id="9" name="Text 3"/>
          <p:cNvSpPr/>
          <p:nvPr/>
        </p:nvSpPr>
        <p:spPr>
          <a:xfrm>
            <a:off x="812800" y="4373880"/>
            <a:ext cx="8376024" cy="2458720"/>
          </a:xfrm>
          <a:prstGeom prst="rect">
            <a:avLst/>
          </a:prstGeom>
          <a:noFill/>
          <a:ln/>
        </p:spPr>
        <p:txBody>
          <a:bodyPr wrap="square" lIns="0" tIns="0" rIns="0" bIns="0" rtlCol="0" anchor="t">
            <a:normAutofit lnSpcReduction="10000"/>
          </a:bodyPr>
          <a:lstStyle/>
          <a:p>
            <a:pPr lvl="0"/>
            <a:r>
              <a:rPr lang="en-US" sz="1400" dirty="0">
                <a:solidFill>
                  <a:srgbClr val="8FB0AD"/>
                </a:solidFill>
                <a:latin typeface="Nunito Sans" pitchFamily="34" charset="0"/>
                <a:ea typeface="Nunito Sans" pitchFamily="34" charset="-122"/>
                <a:cs typeface="Nunito Sans" pitchFamily="34" charset="-120"/>
              </a:rPr>
              <a:t>Group members: </a:t>
            </a:r>
          </a:p>
          <a:p>
            <a:pPr lvl="0">
              <a:lnSpc>
                <a:spcPct val="150000"/>
              </a:lnSpc>
            </a:pPr>
            <a:r>
              <a:rPr lang="en-US" sz="1400" b="1" dirty="0">
                <a:solidFill>
                  <a:srgbClr val="8FB0AD"/>
                </a:solidFill>
                <a:latin typeface="Nunito Sans" pitchFamily="34" charset="0"/>
                <a:ea typeface="Nunito Sans" pitchFamily="34" charset="-122"/>
                <a:cs typeface="Nunito Sans" pitchFamily="34" charset="-120"/>
              </a:rPr>
              <a:t>CHORBUMSAMNANG </a:t>
            </a:r>
          </a:p>
          <a:p>
            <a:pPr lvl="0">
              <a:lnSpc>
                <a:spcPct val="150000"/>
              </a:lnSpc>
            </a:pPr>
            <a:r>
              <a:rPr lang="en-US" sz="1400" b="1" dirty="0">
                <a:solidFill>
                  <a:srgbClr val="8FB0AD"/>
                </a:solidFill>
                <a:latin typeface="Nunito Sans" pitchFamily="34" charset="0"/>
                <a:ea typeface="Nunito Sans" pitchFamily="34" charset="-122"/>
                <a:cs typeface="Nunito Sans" pitchFamily="34" charset="-120"/>
              </a:rPr>
              <a:t>CHHEAN RAVY </a:t>
            </a:r>
          </a:p>
          <a:p>
            <a:pPr lvl="0">
              <a:lnSpc>
                <a:spcPct val="150000"/>
              </a:lnSpc>
            </a:pPr>
            <a:r>
              <a:rPr lang="en-US" sz="1400" b="1" dirty="0">
                <a:solidFill>
                  <a:srgbClr val="8FB0AD"/>
                </a:solidFill>
                <a:latin typeface="Nunito Sans" pitchFamily="34" charset="0"/>
                <a:ea typeface="Nunito Sans" pitchFamily="34" charset="-122"/>
                <a:cs typeface="Nunito Sans" pitchFamily="34" charset="-120"/>
              </a:rPr>
              <a:t>CHHEAN SOVTHANA</a:t>
            </a:r>
          </a:p>
          <a:p>
            <a:pPr lvl="0">
              <a:lnSpc>
                <a:spcPct val="150000"/>
              </a:lnSpc>
            </a:pPr>
            <a:r>
              <a:rPr lang="en-US" sz="1400" b="1" dirty="0">
                <a:solidFill>
                  <a:srgbClr val="8FB0AD"/>
                </a:solidFill>
                <a:latin typeface="Nunito Sans" pitchFamily="34" charset="0"/>
                <a:ea typeface="Nunito Sans" pitchFamily="34" charset="-122"/>
                <a:cs typeface="Nunito Sans" pitchFamily="34" charset="-120"/>
              </a:rPr>
              <a:t>ENG LEABHY </a:t>
            </a:r>
          </a:p>
          <a:p>
            <a:pPr lvl="0">
              <a:lnSpc>
                <a:spcPct val="150000"/>
              </a:lnSpc>
            </a:pPr>
            <a:r>
              <a:rPr lang="en-US" sz="1400" b="1" dirty="0">
                <a:solidFill>
                  <a:srgbClr val="8FB0AD"/>
                </a:solidFill>
                <a:latin typeface="Nunito Sans" pitchFamily="34" charset="0"/>
                <a:ea typeface="Nunito Sans" pitchFamily="34" charset="-122"/>
                <a:cs typeface="Nunito Sans" pitchFamily="34" charset="-120"/>
              </a:rPr>
              <a:t>HEANG SOCHEATA</a:t>
            </a:r>
            <a:r>
              <a:rPr lang="en-US" sz="1400" b="1" dirty="0"/>
              <a:t>ORBUMSAMNANG</a:t>
            </a:r>
          </a:p>
          <a:p>
            <a:pPr lvl="0"/>
            <a:r>
              <a:rPr lang="en-US" sz="1200" dirty="0"/>
              <a:t>CHHEAN RAVY</a:t>
            </a:r>
          </a:p>
          <a:p>
            <a:pPr lvl="0"/>
            <a:r>
              <a:rPr lang="en-US" sz="1200" dirty="0"/>
              <a:t>CHHEAN SOVTHANA</a:t>
            </a:r>
          </a:p>
          <a:p>
            <a:pPr lvl="0"/>
            <a:r>
              <a:rPr lang="en-US" sz="1200" dirty="0"/>
              <a:t>ENG LEABHY</a:t>
            </a:r>
          </a:p>
          <a:p>
            <a:pPr lvl="0"/>
            <a:r>
              <a:rPr lang="en-US" sz="1200" dirty="0"/>
              <a:t>HEANG SOCHEATA</a:t>
            </a:r>
          </a:p>
          <a:p>
            <a:pPr marL="0" indent="0" algn="l">
              <a:lnSpc>
                <a:spcPts val="1680"/>
              </a:lnSpc>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A6F65"/>
                </a:solidFill>
                <a:latin typeface="Nunito Sans" pitchFamily="34" charset="0"/>
                <a:ea typeface="Nunito Sans" pitchFamily="34" charset="-122"/>
                <a:cs typeface="Nunito Sans" pitchFamily="34" charset="-120"/>
              </a:rPr>
              <a:t>01 · PROBLEM AND USERS</a:t>
            </a:r>
            <a:endParaRPr lang="en-US" sz="1200" dirty="0"/>
          </a:p>
        </p:txBody>
      </p:sp>
      <p:sp>
        <p:nvSpPr>
          <p:cNvPr id="3" name="Text 1"/>
          <p:cNvSpPr>
            <a:spLocks noGrp="1"/>
          </p:cNvSpPr>
          <p:nvPr>
            <p:ph type="title"/>
          </p:nvPr>
        </p:nvSpPr>
        <p:spPr>
          <a:xfrm>
            <a:off x="812800" y="112776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2A2E"/>
                </a:solidFill>
                <a:latin typeface="Domine" pitchFamily="18" charset="0"/>
                <a:ea typeface="Domine" pitchFamily="18" charset="-122"/>
                <a:cs typeface="Domine" pitchFamily="18" charset="-120"/>
              </a:rPr>
              <a:t>Water shortages lower harvests and farmer income</a:t>
            </a:r>
            <a:endParaRPr lang="en-US" sz="3200" dirty="0"/>
          </a:p>
        </p:txBody>
      </p:sp>
      <p:sp>
        <p:nvSpPr>
          <p:cNvPr id="4" name="Shape 2"/>
          <p:cNvSpPr/>
          <p:nvPr/>
        </p:nvSpPr>
        <p:spPr>
          <a:xfrm>
            <a:off x="812800" y="1899920"/>
            <a:ext cx="4826000" cy="3037840"/>
          </a:xfrm>
          <a:prstGeom prst="roundRect">
            <a:avLst>
              <a:gd name="adj" fmla="val 3344"/>
            </a:avLst>
          </a:prstGeom>
          <a:solidFill>
            <a:srgbClr val="0F2A2E"/>
          </a:solidFill>
          <a:ln/>
        </p:spPr>
        <p:txBody>
          <a:bodyPr/>
          <a:lstStyle/>
          <a:p>
            <a:endParaRPr lang="en-US"/>
          </a:p>
        </p:txBody>
      </p:sp>
      <p:sp>
        <p:nvSpPr>
          <p:cNvPr id="5" name="Text 3"/>
          <p:cNvSpPr/>
          <p:nvPr/>
        </p:nvSpPr>
        <p:spPr>
          <a:xfrm>
            <a:off x="1066800" y="2153920"/>
            <a:ext cx="444754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9A23B"/>
                </a:solidFill>
                <a:latin typeface="Domine" pitchFamily="18" charset="0"/>
                <a:ea typeface="Domine" pitchFamily="18" charset="-122"/>
                <a:cs typeface="Domine" pitchFamily="18" charset="-120"/>
              </a:rPr>
              <a:t>The problem</a:t>
            </a:r>
            <a:endParaRPr lang="en-US" sz="1600" dirty="0"/>
          </a:p>
        </p:txBody>
      </p:sp>
      <p:sp>
        <p:nvSpPr>
          <p:cNvPr id="6" name="Text 4"/>
          <p:cNvSpPr/>
          <p:nvPr/>
        </p:nvSpPr>
        <p:spPr>
          <a:xfrm>
            <a:off x="1066800" y="2499360"/>
            <a:ext cx="444754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E8"/>
                </a:solidFill>
                <a:latin typeface="Nunito Sans" pitchFamily="34" charset="0"/>
                <a:ea typeface="Nunito Sans" pitchFamily="34" charset="-122"/>
                <a:cs typeface="Nunito Sans" pitchFamily="34" charset="-120"/>
              </a:rPr>
              <a:t>Farmers sometimes lack water for their crops, especially in the dry season.</a:t>
            </a:r>
            <a:endParaRPr lang="en-US" sz="1600" dirty="0"/>
          </a:p>
        </p:txBody>
      </p:sp>
      <p:sp>
        <p:nvSpPr>
          <p:cNvPr id="7" name="Text 5"/>
          <p:cNvSpPr/>
          <p:nvPr/>
        </p:nvSpPr>
        <p:spPr>
          <a:xfrm>
            <a:off x="1066800" y="3169920"/>
            <a:ext cx="444754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9A23B"/>
                </a:solidFill>
                <a:latin typeface="Domine" pitchFamily="18" charset="0"/>
                <a:ea typeface="Domine" pitchFamily="18" charset="-122"/>
                <a:cs typeface="Domine" pitchFamily="18" charset="-120"/>
              </a:rPr>
              <a:t>Why it matters</a:t>
            </a:r>
            <a:endParaRPr lang="en-US" sz="1600" dirty="0"/>
          </a:p>
        </p:txBody>
      </p:sp>
      <p:sp>
        <p:nvSpPr>
          <p:cNvPr id="8" name="Text 6"/>
          <p:cNvSpPr/>
          <p:nvPr/>
        </p:nvSpPr>
        <p:spPr>
          <a:xfrm>
            <a:off x="1066800" y="3515360"/>
            <a:ext cx="4447540"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E8"/>
                </a:solidFill>
                <a:latin typeface="Nunito Sans" pitchFamily="34" charset="0"/>
                <a:ea typeface="Nunito Sans" pitchFamily="34" charset="-122"/>
                <a:cs typeface="Nunito Sans" pitchFamily="34" charset="-120"/>
              </a:rPr>
              <a:t>Without water, crops grow poorly and harvests shrink, so farmers earn less and food is harder to produce.</a:t>
            </a:r>
            <a:endParaRPr lang="en-US" sz="1600" dirty="0"/>
          </a:p>
        </p:txBody>
      </p:sp>
      <p:sp>
        <p:nvSpPr>
          <p:cNvPr id="9" name="Text 7"/>
          <p:cNvSpPr/>
          <p:nvPr/>
        </p:nvSpPr>
        <p:spPr>
          <a:xfrm>
            <a:off x="5842000" y="1899920"/>
            <a:ext cx="570331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A6F65"/>
                </a:solidFill>
                <a:latin typeface="Nunito Sans" pitchFamily="34" charset="0"/>
                <a:ea typeface="Nunito Sans" pitchFamily="34" charset="-122"/>
                <a:cs typeface="Nunito Sans" pitchFamily="34" charset="-120"/>
              </a:rPr>
              <a:t>WHO WILL USE THE RESULTS</a:t>
            </a:r>
            <a:endParaRPr lang="en-US" sz="1200" dirty="0"/>
          </a:p>
        </p:txBody>
      </p:sp>
      <p:sp>
        <p:nvSpPr>
          <p:cNvPr id="10" name="Shape 8"/>
          <p:cNvSpPr/>
          <p:nvPr/>
        </p:nvSpPr>
        <p:spPr>
          <a:xfrm>
            <a:off x="7016787" y="2213909"/>
            <a:ext cx="2660651" cy="1461135"/>
          </a:xfrm>
          <a:prstGeom prst="roundRect">
            <a:avLst>
              <a:gd name="adj" fmla="val 7156"/>
            </a:avLst>
          </a:prstGeom>
          <a:solidFill>
            <a:srgbClr val="FBFAF5"/>
          </a:solidFill>
          <a:ln w="6350">
            <a:solidFill>
              <a:srgbClr val="DDD8C8"/>
            </a:solidFill>
            <a:prstDash val="solid"/>
          </a:ln>
        </p:spPr>
        <p:txBody>
          <a:bodyPr/>
          <a:lstStyle/>
          <a:p>
            <a:endParaRPr lang="en-US"/>
          </a:p>
        </p:txBody>
      </p:sp>
      <p:sp>
        <p:nvSpPr>
          <p:cNvPr id="11" name="Text 9"/>
          <p:cNvSpPr/>
          <p:nvPr/>
        </p:nvSpPr>
        <p:spPr>
          <a:xfrm>
            <a:off x="7174267" y="2474895"/>
            <a:ext cx="23179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Farmers</a:t>
            </a:r>
            <a:endParaRPr lang="en-US" sz="1600" dirty="0"/>
          </a:p>
        </p:txBody>
      </p:sp>
      <p:sp>
        <p:nvSpPr>
          <p:cNvPr id="12" name="Text 10"/>
          <p:cNvSpPr/>
          <p:nvPr/>
        </p:nvSpPr>
        <p:spPr>
          <a:xfrm>
            <a:off x="7174267" y="2769535"/>
            <a:ext cx="2709919" cy="45212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3A4A4C"/>
                </a:solidFill>
                <a:latin typeface="Nunito Sans" pitchFamily="34" charset="0"/>
                <a:ea typeface="Nunito Sans" pitchFamily="34" charset="-122"/>
                <a:cs typeface="Nunito Sans" pitchFamily="34" charset="-120"/>
              </a:rPr>
              <a:t>Manage water and improve crop production.</a:t>
            </a:r>
            <a:endParaRPr lang="en-US" sz="1200" dirty="0"/>
          </a:p>
        </p:txBody>
      </p:sp>
      <p:sp>
        <p:nvSpPr>
          <p:cNvPr id="14" name="Text 12"/>
          <p:cNvSpPr/>
          <p:nvPr/>
        </p:nvSpPr>
        <p:spPr>
          <a:xfrm>
            <a:off x="8920480" y="2423160"/>
            <a:ext cx="2317953" cy="513080"/>
          </a:xfrm>
          <a:prstGeom prst="rect">
            <a:avLst/>
          </a:prstGeom>
          <a:noFill/>
          <a:ln/>
        </p:spPr>
        <p:txBody>
          <a:bodyPr wrap="square" lIns="0" tIns="0" rIns="0" bIns="0" rtlCol="0" anchor="t">
            <a:normAutofit/>
          </a:bodyPr>
          <a:lstStyle/>
          <a:p>
            <a:pPr marL="0" indent="0" algn="l">
              <a:lnSpc>
                <a:spcPts val="1920"/>
              </a:lnSpc>
              <a:buNone/>
            </a:pPr>
            <a:endParaRPr lang="en-US" sz="1600" dirty="0"/>
          </a:p>
        </p:txBody>
      </p:sp>
      <p:sp>
        <p:nvSpPr>
          <p:cNvPr id="15" name="Text 13"/>
          <p:cNvSpPr/>
          <p:nvPr/>
        </p:nvSpPr>
        <p:spPr>
          <a:xfrm>
            <a:off x="8920480" y="2731546"/>
            <a:ext cx="2317953" cy="4521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16" name="Shape 14"/>
          <p:cNvSpPr/>
          <p:nvPr/>
        </p:nvSpPr>
        <p:spPr>
          <a:xfrm>
            <a:off x="5845175" y="3803015"/>
            <a:ext cx="2660650" cy="1131570"/>
          </a:xfrm>
          <a:prstGeom prst="roundRect">
            <a:avLst>
              <a:gd name="adj" fmla="val 8698"/>
            </a:avLst>
          </a:prstGeom>
          <a:solidFill>
            <a:srgbClr val="FBFAF5"/>
          </a:solidFill>
          <a:ln w="6350">
            <a:solidFill>
              <a:srgbClr val="DDD8C8"/>
            </a:solidFill>
            <a:prstDash val="solid"/>
          </a:ln>
        </p:spPr>
        <p:txBody>
          <a:bodyPr/>
          <a:lstStyle/>
          <a:p>
            <a:endParaRPr lang="en-US"/>
          </a:p>
        </p:txBody>
      </p:sp>
      <p:sp>
        <p:nvSpPr>
          <p:cNvPr id="17" name="Text 15"/>
          <p:cNvSpPr/>
          <p:nvPr/>
        </p:nvSpPr>
        <p:spPr>
          <a:xfrm>
            <a:off x="6050280" y="4008120"/>
            <a:ext cx="23179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Government</a:t>
            </a:r>
            <a:endParaRPr lang="en-US" sz="1600" dirty="0"/>
          </a:p>
        </p:txBody>
      </p:sp>
      <p:sp>
        <p:nvSpPr>
          <p:cNvPr id="18" name="Text 16"/>
          <p:cNvSpPr/>
          <p:nvPr/>
        </p:nvSpPr>
        <p:spPr>
          <a:xfrm>
            <a:off x="6050280" y="430276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A4A4C"/>
                </a:solidFill>
                <a:latin typeface="Nunito Sans" pitchFamily="34" charset="0"/>
                <a:ea typeface="Nunito Sans" pitchFamily="34" charset="-122"/>
                <a:cs typeface="Nunito Sans" pitchFamily="34" charset="-120"/>
              </a:rPr>
              <a:t>Plan water management and agricultural development.</a:t>
            </a:r>
            <a:endParaRPr lang="en-US" sz="1200" dirty="0"/>
          </a:p>
        </p:txBody>
      </p:sp>
      <p:sp>
        <p:nvSpPr>
          <p:cNvPr id="19" name="Shape 17"/>
          <p:cNvSpPr/>
          <p:nvPr/>
        </p:nvSpPr>
        <p:spPr>
          <a:xfrm>
            <a:off x="8715375" y="3803015"/>
            <a:ext cx="2660650" cy="1131570"/>
          </a:xfrm>
          <a:prstGeom prst="roundRect">
            <a:avLst>
              <a:gd name="adj" fmla="val 8698"/>
            </a:avLst>
          </a:prstGeom>
          <a:solidFill>
            <a:srgbClr val="FBFAF5"/>
          </a:solidFill>
          <a:ln w="6350">
            <a:solidFill>
              <a:srgbClr val="DDD8C8"/>
            </a:solidFill>
            <a:prstDash val="solid"/>
          </a:ln>
        </p:spPr>
        <p:txBody>
          <a:bodyPr/>
          <a:lstStyle/>
          <a:p>
            <a:endParaRPr lang="en-US"/>
          </a:p>
        </p:txBody>
      </p:sp>
      <p:sp>
        <p:nvSpPr>
          <p:cNvPr id="20" name="Text 18"/>
          <p:cNvSpPr/>
          <p:nvPr/>
        </p:nvSpPr>
        <p:spPr>
          <a:xfrm>
            <a:off x="8920480" y="4008120"/>
            <a:ext cx="23179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Researchers</a:t>
            </a:r>
            <a:endParaRPr lang="en-US" sz="1600" dirty="0"/>
          </a:p>
        </p:txBody>
      </p:sp>
      <p:sp>
        <p:nvSpPr>
          <p:cNvPr id="21" name="Text 19"/>
          <p:cNvSpPr/>
          <p:nvPr/>
        </p:nvSpPr>
        <p:spPr>
          <a:xfrm>
            <a:off x="8920480" y="430276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A4A4C"/>
                </a:solidFill>
                <a:latin typeface="Nunito Sans" pitchFamily="34" charset="0"/>
                <a:ea typeface="Nunito Sans" pitchFamily="34" charset="-122"/>
                <a:cs typeface="Nunito Sans" pitchFamily="34" charset="-120"/>
              </a:rPr>
              <a:t>Study water shortages and crop growth.</a:t>
            </a:r>
            <a:endParaRPr lang="en-US" sz="1200" dirty="0"/>
          </a:p>
        </p:txBody>
      </p:sp>
      <p:sp>
        <p:nvSpPr>
          <p:cNvPr id="22" name="Text 20"/>
          <p:cNvSpPr/>
          <p:nvPr/>
        </p:nvSpPr>
        <p:spPr>
          <a:xfrm>
            <a:off x="812800" y="6238241"/>
            <a:ext cx="27181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67"/>
                </a:solidFill>
                <a:latin typeface="Nunito Sans" pitchFamily="34" charset="0"/>
                <a:ea typeface="Nunito Sans" pitchFamily="34" charset="-122"/>
                <a:cs typeface="Nunito Sans" pitchFamily="34" charset="-120"/>
              </a:rPr>
              <a:t>Data Science in Agriculture  2 / 5</a:t>
            </a:r>
            <a:endParaRPr lang="en-US" sz="12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A6F65"/>
                </a:solidFill>
                <a:latin typeface="Nunito Sans" pitchFamily="34" charset="0"/>
                <a:ea typeface="Nunito Sans" pitchFamily="34" charset="-122"/>
                <a:cs typeface="Nunito Sans" pitchFamily="34" charset="-120"/>
              </a:rPr>
              <a:t>02 · THE DATA</a:t>
            </a:r>
            <a:endParaRPr lang="en-US" sz="1200" dirty="0"/>
          </a:p>
        </p:txBody>
      </p:sp>
      <p:sp>
        <p:nvSpPr>
          <p:cNvPr id="3" name="Text 1"/>
          <p:cNvSpPr>
            <a:spLocks noGrp="1"/>
          </p:cNvSpPr>
          <p:nvPr>
            <p:ph type="title"/>
          </p:nvPr>
        </p:nvSpPr>
        <p:spPr>
          <a:xfrm>
            <a:off x="812800" y="11277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2A2E"/>
                </a:solidFill>
                <a:latin typeface="Domine" pitchFamily="18" charset="0"/>
                <a:ea typeface="Domine" pitchFamily="18" charset="-122"/>
                <a:cs typeface="Domine" pitchFamily="18" charset="-120"/>
              </a:rPr>
              <a:t>Data needed, sources and types</a:t>
            </a:r>
            <a:endParaRPr lang="en-US" sz="3200" dirty="0"/>
          </a:p>
        </p:txBody>
      </p:sp>
      <p:sp>
        <p:nvSpPr>
          <p:cNvPr id="4" name="Shape 2"/>
          <p:cNvSpPr/>
          <p:nvPr/>
        </p:nvSpPr>
        <p:spPr>
          <a:xfrm>
            <a:off x="815975" y="1903095"/>
            <a:ext cx="3380264" cy="2686050"/>
          </a:xfrm>
          <a:prstGeom prst="roundRect">
            <a:avLst>
              <a:gd name="adj" fmla="val 3664"/>
            </a:avLst>
          </a:prstGeom>
          <a:solidFill>
            <a:srgbClr val="FBFAF5"/>
          </a:solidFill>
          <a:ln w="6350">
            <a:solidFill>
              <a:srgbClr val="DDD8C8"/>
            </a:solidFill>
            <a:prstDash val="solid"/>
          </a:ln>
        </p:spPr>
        <p:txBody>
          <a:bodyPr/>
          <a:lstStyle/>
          <a:p>
            <a:endParaRPr lang="en-US"/>
          </a:p>
        </p:txBody>
      </p:sp>
      <p:sp>
        <p:nvSpPr>
          <p:cNvPr id="5" name="Text 3"/>
          <p:cNvSpPr/>
          <p:nvPr/>
        </p:nvSpPr>
        <p:spPr>
          <a:xfrm>
            <a:off x="1071880" y="2159000"/>
            <a:ext cx="29545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Data needed</a:t>
            </a:r>
            <a:endParaRPr lang="en-US" sz="1600" dirty="0"/>
          </a:p>
        </p:txBody>
      </p:sp>
      <p:sp>
        <p:nvSpPr>
          <p:cNvPr id="6" name="Text 4"/>
          <p:cNvSpPr/>
          <p:nvPr/>
        </p:nvSpPr>
        <p:spPr>
          <a:xfrm>
            <a:off x="1170686" y="2504441"/>
            <a:ext cx="2848081" cy="13970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Rainfall data</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Temperature data</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Soil moisture data</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Crop types</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Water usage data</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Historical crop production data</a:t>
            </a:r>
            <a:endParaRPr lang="en-US" sz="1200" dirty="0"/>
          </a:p>
        </p:txBody>
      </p:sp>
      <p:sp>
        <p:nvSpPr>
          <p:cNvPr id="7" name="Shape 5"/>
          <p:cNvSpPr/>
          <p:nvPr/>
        </p:nvSpPr>
        <p:spPr>
          <a:xfrm>
            <a:off x="4405789" y="1903095"/>
            <a:ext cx="3380343" cy="2686050"/>
          </a:xfrm>
          <a:prstGeom prst="roundRect">
            <a:avLst>
              <a:gd name="adj" fmla="val 3664"/>
            </a:avLst>
          </a:prstGeom>
          <a:solidFill>
            <a:srgbClr val="FBFAF5"/>
          </a:solidFill>
          <a:ln w="6350">
            <a:solidFill>
              <a:srgbClr val="DDD8C8"/>
            </a:solidFill>
            <a:prstDash val="solid"/>
          </a:ln>
        </p:spPr>
        <p:txBody>
          <a:bodyPr/>
          <a:lstStyle/>
          <a:p>
            <a:endParaRPr lang="en-US"/>
          </a:p>
        </p:txBody>
      </p:sp>
      <p:sp>
        <p:nvSpPr>
          <p:cNvPr id="8" name="Text 6"/>
          <p:cNvSpPr/>
          <p:nvPr/>
        </p:nvSpPr>
        <p:spPr>
          <a:xfrm>
            <a:off x="4661694" y="2159000"/>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Where it comes from</a:t>
            </a:r>
            <a:endParaRPr lang="en-US" sz="1600" dirty="0"/>
          </a:p>
        </p:txBody>
      </p:sp>
      <p:sp>
        <p:nvSpPr>
          <p:cNvPr id="9" name="Text 7"/>
          <p:cNvSpPr/>
          <p:nvPr/>
        </p:nvSpPr>
        <p:spPr>
          <a:xfrm>
            <a:off x="4760500" y="2504441"/>
            <a:ext cx="2848163" cy="18542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b="1" dirty="0">
                <a:solidFill>
                  <a:srgbClr val="3A4A4C"/>
                </a:solidFill>
                <a:latin typeface="Nunito Sans" pitchFamily="34" charset="0"/>
                <a:ea typeface="Nunito Sans" pitchFamily="34" charset="-122"/>
                <a:cs typeface="Nunito Sans" pitchFamily="34" charset="-120"/>
              </a:rPr>
              <a:t>Weather stations:</a:t>
            </a:r>
            <a:r>
              <a:rPr lang="en-US" sz="1200" dirty="0">
                <a:solidFill>
                  <a:srgbClr val="3A4A4C"/>
                </a:solidFill>
                <a:latin typeface="Nunito Sans" pitchFamily="34" charset="0"/>
                <a:ea typeface="Nunito Sans" pitchFamily="34" charset="-122"/>
                <a:cs typeface="Nunito Sans" pitchFamily="34" charset="-120"/>
              </a:rPr>
              <a:t> rainfall and temperature</a:t>
            </a:r>
            <a:endParaRPr lang="en-US" sz="1200" dirty="0"/>
          </a:p>
          <a:p>
            <a:pPr marL="155194" indent="-155194" algn="l">
              <a:lnSpc>
                <a:spcPts val="1800"/>
              </a:lnSpc>
              <a:buSzPct val="100000"/>
              <a:buChar char="•"/>
            </a:pPr>
            <a:r>
              <a:rPr lang="en-US" sz="1200" b="1" dirty="0">
                <a:solidFill>
                  <a:srgbClr val="3A4A4C"/>
                </a:solidFill>
                <a:latin typeface="Nunito Sans" pitchFamily="34" charset="0"/>
                <a:ea typeface="Nunito Sans" pitchFamily="34" charset="-122"/>
                <a:cs typeface="Nunito Sans" pitchFamily="34" charset="-120"/>
              </a:rPr>
              <a:t>Soil sensors:</a:t>
            </a:r>
            <a:r>
              <a:rPr lang="en-US" sz="1200" dirty="0">
                <a:solidFill>
                  <a:srgbClr val="3A4A4C"/>
                </a:solidFill>
                <a:latin typeface="Nunito Sans" pitchFamily="34" charset="0"/>
                <a:ea typeface="Nunito Sans" pitchFamily="34" charset="-122"/>
                <a:cs typeface="Nunito Sans" pitchFamily="34" charset="-120"/>
              </a:rPr>
              <a:t> soil moisture levels</a:t>
            </a:r>
            <a:endParaRPr lang="en-US" sz="1200" dirty="0"/>
          </a:p>
          <a:p>
            <a:pPr marL="155194" indent="-155194" algn="l">
              <a:lnSpc>
                <a:spcPts val="1800"/>
              </a:lnSpc>
              <a:buSzPct val="100000"/>
              <a:buChar char="•"/>
            </a:pPr>
            <a:r>
              <a:rPr lang="en-US" sz="1200" b="1" dirty="0">
                <a:solidFill>
                  <a:srgbClr val="3A4A4C"/>
                </a:solidFill>
                <a:latin typeface="Nunito Sans" pitchFamily="34" charset="0"/>
                <a:ea typeface="Nunito Sans" pitchFamily="34" charset="-122"/>
                <a:cs typeface="Nunito Sans" pitchFamily="34" charset="-120"/>
              </a:rPr>
              <a:t>Farmers:</a:t>
            </a:r>
            <a:r>
              <a:rPr lang="en-US" sz="1200" dirty="0">
                <a:solidFill>
                  <a:srgbClr val="3A4A4C"/>
                </a:solidFill>
                <a:latin typeface="Nunito Sans" pitchFamily="34" charset="0"/>
                <a:ea typeface="Nunito Sans" pitchFamily="34" charset="-122"/>
                <a:cs typeface="Nunito Sans" pitchFamily="34" charset="-120"/>
              </a:rPr>
              <a:t> crop production and water usage records</a:t>
            </a:r>
            <a:endParaRPr lang="en-US" sz="1200" dirty="0"/>
          </a:p>
          <a:p>
            <a:pPr marL="155194" indent="-155194" algn="l">
              <a:lnSpc>
                <a:spcPts val="1800"/>
              </a:lnSpc>
              <a:buSzPct val="100000"/>
              <a:buChar char="•"/>
            </a:pPr>
            <a:r>
              <a:rPr lang="en-US" sz="1200" b="1" dirty="0">
                <a:solidFill>
                  <a:srgbClr val="3A4A4C"/>
                </a:solidFill>
                <a:latin typeface="Nunito Sans" pitchFamily="34" charset="0"/>
                <a:ea typeface="Nunito Sans" pitchFamily="34" charset="-122"/>
                <a:cs typeface="Nunito Sans" pitchFamily="34" charset="-120"/>
              </a:rPr>
              <a:t>Government departments:</a:t>
            </a:r>
            <a:r>
              <a:rPr lang="en-US" sz="1200" dirty="0">
                <a:solidFill>
                  <a:srgbClr val="3A4A4C"/>
                </a:solidFill>
                <a:latin typeface="Nunito Sans" pitchFamily="34" charset="0"/>
                <a:ea typeface="Nunito Sans" pitchFamily="34" charset="-122"/>
                <a:cs typeface="Nunito Sans" pitchFamily="34" charset="-120"/>
              </a:rPr>
              <a:t> historical agricultural data</a:t>
            </a:r>
            <a:endParaRPr lang="en-US" sz="1200" dirty="0"/>
          </a:p>
        </p:txBody>
      </p:sp>
      <p:sp>
        <p:nvSpPr>
          <p:cNvPr id="10" name="Shape 8"/>
          <p:cNvSpPr/>
          <p:nvPr/>
        </p:nvSpPr>
        <p:spPr>
          <a:xfrm>
            <a:off x="7995682" y="1903095"/>
            <a:ext cx="3380343" cy="2686050"/>
          </a:xfrm>
          <a:prstGeom prst="roundRect">
            <a:avLst>
              <a:gd name="adj" fmla="val 3664"/>
            </a:avLst>
          </a:prstGeom>
          <a:solidFill>
            <a:srgbClr val="FBFAF5"/>
          </a:solidFill>
          <a:ln w="6350">
            <a:solidFill>
              <a:srgbClr val="DDD8C8"/>
            </a:solidFill>
            <a:prstDash val="solid"/>
          </a:ln>
        </p:spPr>
        <p:txBody>
          <a:bodyPr/>
          <a:lstStyle/>
          <a:p>
            <a:endParaRPr lang="en-US"/>
          </a:p>
        </p:txBody>
      </p:sp>
      <p:sp>
        <p:nvSpPr>
          <p:cNvPr id="11" name="Text 9"/>
          <p:cNvSpPr/>
          <p:nvPr/>
        </p:nvSpPr>
        <p:spPr>
          <a:xfrm>
            <a:off x="8251587" y="2159000"/>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Types of data</a:t>
            </a:r>
            <a:endParaRPr lang="en-US" sz="1600" dirty="0"/>
          </a:p>
        </p:txBody>
      </p:sp>
      <p:sp>
        <p:nvSpPr>
          <p:cNvPr id="12" name="Text 10"/>
          <p:cNvSpPr/>
          <p:nvPr/>
        </p:nvSpPr>
        <p:spPr>
          <a:xfrm>
            <a:off x="8350393" y="2504441"/>
            <a:ext cx="2848163" cy="18542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b="1" dirty="0">
                <a:solidFill>
                  <a:srgbClr val="3A4A4C"/>
                </a:solidFill>
                <a:latin typeface="Nunito Sans" pitchFamily="34" charset="0"/>
                <a:ea typeface="Nunito Sans" pitchFamily="34" charset="-122"/>
                <a:cs typeface="Nunito Sans" pitchFamily="34" charset="-120"/>
              </a:rPr>
              <a:t>Numerical:</a:t>
            </a:r>
            <a:r>
              <a:rPr lang="en-US" sz="1200" dirty="0">
                <a:solidFill>
                  <a:srgbClr val="3A4A4C"/>
                </a:solidFill>
                <a:latin typeface="Nunito Sans" pitchFamily="34" charset="0"/>
                <a:ea typeface="Nunito Sans" pitchFamily="34" charset="-122"/>
                <a:cs typeface="Nunito Sans" pitchFamily="34" charset="-120"/>
              </a:rPr>
              <a:t> temperature, rainfall, soil moisture</a:t>
            </a:r>
            <a:endParaRPr lang="en-US" sz="1200" dirty="0"/>
          </a:p>
          <a:p>
            <a:pPr marL="155194" indent="-155194" algn="l">
              <a:lnSpc>
                <a:spcPts val="1800"/>
              </a:lnSpc>
              <a:buSzPct val="100000"/>
              <a:buChar char="•"/>
            </a:pPr>
            <a:r>
              <a:rPr lang="en-US" sz="1200" b="1" dirty="0">
                <a:solidFill>
                  <a:srgbClr val="3A4A4C"/>
                </a:solidFill>
                <a:latin typeface="Nunito Sans" pitchFamily="34" charset="0"/>
                <a:ea typeface="Nunito Sans" pitchFamily="34" charset="-122"/>
                <a:cs typeface="Nunito Sans" pitchFamily="34" charset="-120"/>
              </a:rPr>
              <a:t>Categorical:</a:t>
            </a:r>
            <a:r>
              <a:rPr lang="en-US" sz="1200" dirty="0">
                <a:solidFill>
                  <a:srgbClr val="3A4A4C"/>
                </a:solidFill>
                <a:latin typeface="Nunito Sans" pitchFamily="34" charset="0"/>
                <a:ea typeface="Nunito Sans" pitchFamily="34" charset="-122"/>
                <a:cs typeface="Nunito Sans" pitchFamily="34" charset="-120"/>
              </a:rPr>
              <a:t> crop type, soil type</a:t>
            </a:r>
            <a:endParaRPr lang="en-US" sz="1200" dirty="0"/>
          </a:p>
          <a:p>
            <a:pPr marL="155194" indent="-155194" algn="l">
              <a:lnSpc>
                <a:spcPts val="1800"/>
              </a:lnSpc>
              <a:buSzPct val="100000"/>
              <a:buChar char="•"/>
            </a:pPr>
            <a:r>
              <a:rPr lang="en-US" sz="1200" b="1" dirty="0">
                <a:solidFill>
                  <a:srgbClr val="3A4A4C"/>
                </a:solidFill>
                <a:latin typeface="Nunito Sans" pitchFamily="34" charset="0"/>
                <a:ea typeface="Nunito Sans" pitchFamily="34" charset="-122"/>
                <a:cs typeface="Nunito Sans" pitchFamily="34" charset="-120"/>
              </a:rPr>
              <a:t>Time-series:</a:t>
            </a:r>
            <a:r>
              <a:rPr lang="en-US" sz="1200" dirty="0">
                <a:solidFill>
                  <a:srgbClr val="3A4A4C"/>
                </a:solidFill>
                <a:latin typeface="Nunito Sans" pitchFamily="34" charset="0"/>
                <a:ea typeface="Nunito Sans" pitchFamily="34" charset="-122"/>
                <a:cs typeface="Nunito Sans" pitchFamily="34" charset="-120"/>
              </a:rPr>
              <a:t> daily rainfall and water usage</a:t>
            </a:r>
            <a:endParaRPr lang="en-US" sz="1200" dirty="0"/>
          </a:p>
          <a:p>
            <a:pPr marL="155194" indent="-155194" algn="l">
              <a:lnSpc>
                <a:spcPts val="1800"/>
              </a:lnSpc>
              <a:buSzPct val="100000"/>
              <a:buChar char="•"/>
            </a:pPr>
            <a:r>
              <a:rPr lang="en-US" sz="1200" b="1" dirty="0">
                <a:solidFill>
                  <a:srgbClr val="3A4A4C"/>
                </a:solidFill>
                <a:latin typeface="Nunito Sans" pitchFamily="34" charset="0"/>
                <a:ea typeface="Nunito Sans" pitchFamily="34" charset="-122"/>
                <a:cs typeface="Nunito Sans" pitchFamily="34" charset="-120"/>
              </a:rPr>
              <a:t>Geospatial:</a:t>
            </a:r>
            <a:r>
              <a:rPr lang="en-US" sz="1200" dirty="0">
                <a:solidFill>
                  <a:srgbClr val="3A4A4C"/>
                </a:solidFill>
                <a:latin typeface="Nunito Sans" pitchFamily="34" charset="0"/>
                <a:ea typeface="Nunito Sans" pitchFamily="34" charset="-122"/>
                <a:cs typeface="Nunito Sans" pitchFamily="34" charset="-120"/>
              </a:rPr>
              <a:t> farm location, drought areas</a:t>
            </a:r>
            <a:endParaRPr lang="en-US" sz="1200" dirty="0"/>
          </a:p>
          <a:p>
            <a:pPr marL="155194" indent="-155194" algn="l">
              <a:lnSpc>
                <a:spcPts val="1800"/>
              </a:lnSpc>
              <a:buSzPct val="100000"/>
              <a:buChar char="•"/>
            </a:pPr>
            <a:r>
              <a:rPr lang="en-US" sz="1200" b="1" dirty="0">
                <a:solidFill>
                  <a:srgbClr val="3A4A4C"/>
                </a:solidFill>
                <a:latin typeface="Nunito Sans" pitchFamily="34" charset="0"/>
                <a:ea typeface="Nunito Sans" pitchFamily="34" charset="-122"/>
                <a:cs typeface="Nunito Sans" pitchFamily="34" charset="-120"/>
              </a:rPr>
              <a:t>Date:</a:t>
            </a:r>
            <a:r>
              <a:rPr lang="en-US" sz="1200" dirty="0">
                <a:solidFill>
                  <a:srgbClr val="3A4A4C"/>
                </a:solidFill>
                <a:latin typeface="Nunito Sans" pitchFamily="34" charset="0"/>
                <a:ea typeface="Nunito Sans" pitchFamily="34" charset="-122"/>
                <a:cs typeface="Nunito Sans" pitchFamily="34" charset="-120"/>
              </a:rPr>
              <a:t> planting and harvesting dates</a:t>
            </a:r>
            <a:endParaRPr lang="en-US" sz="1200" dirty="0"/>
          </a:p>
        </p:txBody>
      </p:sp>
      <p:sp>
        <p:nvSpPr>
          <p:cNvPr id="13" name="Text 11"/>
          <p:cNvSpPr/>
          <p:nvPr/>
        </p:nvSpPr>
        <p:spPr>
          <a:xfrm>
            <a:off x="812800" y="6238241"/>
            <a:ext cx="27181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67"/>
                </a:solidFill>
                <a:latin typeface="Nunito Sans" pitchFamily="34" charset="0"/>
                <a:ea typeface="Nunito Sans" pitchFamily="34" charset="-122"/>
                <a:cs typeface="Nunito Sans" pitchFamily="34" charset="-120"/>
              </a:rPr>
              <a:t>Data Science in Agriculture  3 / 5</a:t>
            </a:r>
            <a:endParaRPr lang="en-US" sz="1200" dirty="0"/>
          </a:p>
        </p:txBody>
      </p:sp>
      <p:sp>
        <p:nvSpPr>
          <p:cNvPr id="14" name="TextBox 13">
            <a:extLst>
              <a:ext uri="{FF2B5EF4-FFF2-40B4-BE49-F238E27FC236}">
                <a16:creationId xmlns:a16="http://schemas.microsoft.com/office/drawing/2014/main" id="{BF2605A1-E343-76A9-ECF9-0A134E065D2A}"/>
              </a:ext>
            </a:extLst>
          </p:cNvPr>
          <p:cNvSpPr txBox="1"/>
          <p:nvPr/>
        </p:nvSpPr>
        <p:spPr>
          <a:xfrm>
            <a:off x="7443650" y="5608552"/>
            <a:ext cx="4661647" cy="469359"/>
          </a:xfrm>
          <a:prstGeom prst="rect">
            <a:avLst/>
          </a:prstGeom>
          <a:noFill/>
        </p:spPr>
        <p:txBody>
          <a:bodyPr wrap="square" rtlCol="0">
            <a:spAutoFit/>
          </a:bodyPr>
          <a:lstStyle/>
          <a:p>
            <a:r>
              <a:rPr lang="en-US" sz="1400" dirty="0"/>
              <a:t>Source: Cambodia Seasonal Monitoring</a:t>
            </a:r>
          </a:p>
          <a:p>
            <a:r>
              <a:rPr lang="en-US" sz="1050" u="sng" dirty="0">
                <a:solidFill>
                  <a:srgbClr val="0070C0"/>
                </a:solidFill>
              </a:rPr>
              <a:t>https://www.wfp.org/publications/seasonal-monitoring-cambodia</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A2E"/>
        </a:solidFill>
        <a:effectLst/>
      </p:bgPr>
    </p:bg>
    <p:spTree>
      <p:nvGrpSpPr>
        <p:cNvPr id="1" name=""/>
        <p:cNvGrpSpPr/>
        <p:nvPr/>
      </p:nvGrpSpPr>
      <p:grpSpPr>
        <a:xfrm>
          <a:off x="0" y="0"/>
          <a:ext cx="0" cy="0"/>
          <a:chOff x="0" y="0"/>
          <a:chExt cx="0" cy="0"/>
        </a:xfrm>
      </p:grpSpPr>
      <p:sp>
        <p:nvSpPr>
          <p:cNvPr id="2" name="Text 0"/>
          <p:cNvSpPr/>
          <p:nvPr/>
        </p:nvSpPr>
        <p:spPr>
          <a:xfrm>
            <a:off x="812800" y="812800"/>
            <a:ext cx="523240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CC8B8"/>
                </a:solidFill>
                <a:latin typeface="Nunito Sans" pitchFamily="34" charset="0"/>
                <a:ea typeface="Nunito Sans" pitchFamily="34" charset="-122"/>
                <a:cs typeface="Nunito Sans" pitchFamily="34" charset="-120"/>
              </a:rPr>
              <a:t>03 · ANALYSIS AND OUTPUT</a:t>
            </a:r>
            <a:endParaRPr lang="en-US" sz="1200" dirty="0"/>
          </a:p>
        </p:txBody>
      </p:sp>
      <p:sp>
        <p:nvSpPr>
          <p:cNvPr id="3" name="Text 1"/>
          <p:cNvSpPr>
            <a:spLocks noGrp="1"/>
          </p:cNvSpPr>
          <p:nvPr>
            <p:ph type="title"/>
          </p:nvPr>
        </p:nvSpPr>
        <p:spPr>
          <a:xfrm>
            <a:off x="812800" y="1127761"/>
            <a:ext cx="5232400" cy="9601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4F1E8"/>
                </a:solidFill>
                <a:latin typeface="Domine" pitchFamily="18" charset="0"/>
                <a:ea typeface="Domine" pitchFamily="18" charset="-122"/>
                <a:cs typeface="Domine" pitchFamily="18" charset="-120"/>
              </a:rPr>
              <a:t>What Data Science can do</a:t>
            </a:r>
            <a:endParaRPr lang="en-US" sz="3200" dirty="0"/>
          </a:p>
        </p:txBody>
      </p:sp>
      <p:sp>
        <p:nvSpPr>
          <p:cNvPr id="4" name="Shape 2"/>
          <p:cNvSpPr/>
          <p:nvPr/>
        </p:nvSpPr>
        <p:spPr>
          <a:xfrm>
            <a:off x="815975" y="2268855"/>
            <a:ext cx="5073650" cy="552450"/>
          </a:xfrm>
          <a:prstGeom prst="roundRect">
            <a:avLst>
              <a:gd name="adj" fmla="val 17816"/>
            </a:avLst>
          </a:prstGeom>
          <a:solidFill>
            <a:srgbClr val="17393E"/>
          </a:solidFill>
          <a:ln w="6350">
            <a:solidFill>
              <a:srgbClr val="2A5359"/>
            </a:solidFill>
            <a:prstDash val="solid"/>
          </a:ln>
        </p:spPr>
        <p:txBody>
          <a:bodyPr/>
          <a:lstStyle/>
          <a:p>
            <a:endParaRPr lang="en-US"/>
          </a:p>
        </p:txBody>
      </p:sp>
      <p:sp>
        <p:nvSpPr>
          <p:cNvPr id="5" name="Text 3"/>
          <p:cNvSpPr/>
          <p:nvPr/>
        </p:nvSpPr>
        <p:spPr>
          <a:xfrm>
            <a:off x="1021080" y="2423161"/>
            <a:ext cx="12573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9A23B"/>
                </a:solidFill>
                <a:latin typeface="Domine" pitchFamily="18" charset="0"/>
                <a:ea typeface="Domine" pitchFamily="18" charset="-122"/>
                <a:cs typeface="Domine" pitchFamily="18" charset="-120"/>
              </a:rPr>
              <a:t>Analyze</a:t>
            </a:r>
            <a:endParaRPr lang="en-US" sz="1600" dirty="0"/>
          </a:p>
        </p:txBody>
      </p:sp>
      <p:sp>
        <p:nvSpPr>
          <p:cNvPr id="6" name="Text 4"/>
          <p:cNvSpPr/>
          <p:nvPr/>
        </p:nvSpPr>
        <p:spPr>
          <a:xfrm>
            <a:off x="2379980" y="2438400"/>
            <a:ext cx="34036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Nunito Sans" pitchFamily="34" charset="0"/>
                <a:ea typeface="Nunito Sans" pitchFamily="34" charset="-122"/>
                <a:cs typeface="Nunito Sans" pitchFamily="34" charset="-120"/>
              </a:rPr>
              <a:t>Water usage, rainfall and soil moisture</a:t>
            </a:r>
            <a:endParaRPr lang="en-US" sz="1200" dirty="0"/>
          </a:p>
        </p:txBody>
      </p:sp>
      <p:sp>
        <p:nvSpPr>
          <p:cNvPr id="7" name="Shape 5"/>
          <p:cNvSpPr/>
          <p:nvPr/>
        </p:nvSpPr>
        <p:spPr>
          <a:xfrm>
            <a:off x="815975" y="2929255"/>
            <a:ext cx="5073650" cy="552450"/>
          </a:xfrm>
          <a:prstGeom prst="roundRect">
            <a:avLst>
              <a:gd name="adj" fmla="val 17816"/>
            </a:avLst>
          </a:prstGeom>
          <a:solidFill>
            <a:srgbClr val="17393E"/>
          </a:solidFill>
          <a:ln w="6350">
            <a:solidFill>
              <a:srgbClr val="2A5359"/>
            </a:solidFill>
            <a:prstDash val="solid"/>
          </a:ln>
        </p:spPr>
        <p:txBody>
          <a:bodyPr/>
          <a:lstStyle/>
          <a:p>
            <a:endParaRPr lang="en-US"/>
          </a:p>
        </p:txBody>
      </p:sp>
      <p:sp>
        <p:nvSpPr>
          <p:cNvPr id="8" name="Text 6"/>
          <p:cNvSpPr/>
          <p:nvPr/>
        </p:nvSpPr>
        <p:spPr>
          <a:xfrm>
            <a:off x="1021080" y="3083561"/>
            <a:ext cx="12573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9A23B"/>
                </a:solidFill>
                <a:latin typeface="Domine" pitchFamily="18" charset="0"/>
                <a:ea typeface="Domine" pitchFamily="18" charset="-122"/>
                <a:cs typeface="Domine" pitchFamily="18" charset="-120"/>
              </a:rPr>
              <a:t>Explain</a:t>
            </a:r>
            <a:endParaRPr lang="en-US" sz="1600" dirty="0"/>
          </a:p>
        </p:txBody>
      </p:sp>
      <p:sp>
        <p:nvSpPr>
          <p:cNvPr id="9" name="Text 7"/>
          <p:cNvSpPr/>
          <p:nvPr/>
        </p:nvSpPr>
        <p:spPr>
          <a:xfrm>
            <a:off x="2379980" y="3098800"/>
            <a:ext cx="34036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Nunito Sans" pitchFamily="34" charset="0"/>
                <a:ea typeface="Nunito Sans" pitchFamily="34" charset="-122"/>
                <a:cs typeface="Nunito Sans" pitchFamily="34" charset="-120"/>
              </a:rPr>
              <a:t>How water shortages affect crop production</a:t>
            </a:r>
            <a:endParaRPr lang="en-US" sz="1200" dirty="0"/>
          </a:p>
        </p:txBody>
      </p:sp>
      <p:sp>
        <p:nvSpPr>
          <p:cNvPr id="10" name="Shape 8"/>
          <p:cNvSpPr/>
          <p:nvPr/>
        </p:nvSpPr>
        <p:spPr>
          <a:xfrm>
            <a:off x="815975" y="3589655"/>
            <a:ext cx="5073650" cy="735330"/>
          </a:xfrm>
          <a:prstGeom prst="roundRect">
            <a:avLst>
              <a:gd name="adj" fmla="val 13385"/>
            </a:avLst>
          </a:prstGeom>
          <a:solidFill>
            <a:srgbClr val="17393E"/>
          </a:solidFill>
          <a:ln w="6350">
            <a:solidFill>
              <a:srgbClr val="2A5359"/>
            </a:solidFill>
            <a:prstDash val="solid"/>
          </a:ln>
        </p:spPr>
        <p:txBody>
          <a:bodyPr/>
          <a:lstStyle/>
          <a:p>
            <a:endParaRPr lang="en-US"/>
          </a:p>
        </p:txBody>
      </p:sp>
      <p:sp>
        <p:nvSpPr>
          <p:cNvPr id="11" name="Text 9"/>
          <p:cNvSpPr/>
          <p:nvPr/>
        </p:nvSpPr>
        <p:spPr>
          <a:xfrm>
            <a:off x="1021080" y="3835400"/>
            <a:ext cx="12573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9A23B"/>
                </a:solidFill>
                <a:latin typeface="Domine" pitchFamily="18" charset="0"/>
                <a:ea typeface="Domine" pitchFamily="18" charset="-122"/>
                <a:cs typeface="Domine" pitchFamily="18" charset="-120"/>
              </a:rPr>
              <a:t>Predict</a:t>
            </a:r>
            <a:endParaRPr lang="en-US" sz="1600" dirty="0"/>
          </a:p>
        </p:txBody>
      </p:sp>
      <p:sp>
        <p:nvSpPr>
          <p:cNvPr id="12" name="Text 10"/>
          <p:cNvSpPr/>
          <p:nvPr/>
        </p:nvSpPr>
        <p:spPr>
          <a:xfrm>
            <a:off x="2379980" y="3743961"/>
            <a:ext cx="340367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Nunito Sans" pitchFamily="34" charset="0"/>
                <a:ea typeface="Nunito Sans" pitchFamily="34" charset="-122"/>
                <a:cs typeface="Nunito Sans" pitchFamily="34" charset="-120"/>
              </a:rPr>
              <a:t>Future water needs, drought conditions and crop yields</a:t>
            </a:r>
            <a:endParaRPr lang="en-US" sz="1200" dirty="0"/>
          </a:p>
        </p:txBody>
      </p:sp>
      <p:sp>
        <p:nvSpPr>
          <p:cNvPr id="13" name="Shape 11"/>
          <p:cNvSpPr/>
          <p:nvPr/>
        </p:nvSpPr>
        <p:spPr>
          <a:xfrm>
            <a:off x="815975" y="4432936"/>
            <a:ext cx="5073650" cy="796290"/>
          </a:xfrm>
          <a:prstGeom prst="roundRect">
            <a:avLst>
              <a:gd name="adj" fmla="val 12360"/>
            </a:avLst>
          </a:prstGeom>
          <a:solidFill>
            <a:srgbClr val="17393E"/>
          </a:solidFill>
          <a:ln w="6350">
            <a:solidFill>
              <a:srgbClr val="2A5359"/>
            </a:solidFill>
            <a:prstDash val="solid"/>
          </a:ln>
        </p:spPr>
        <p:txBody>
          <a:bodyPr/>
          <a:lstStyle/>
          <a:p>
            <a:endParaRPr lang="en-US"/>
          </a:p>
        </p:txBody>
      </p:sp>
      <p:sp>
        <p:nvSpPr>
          <p:cNvPr id="14" name="Text 12"/>
          <p:cNvSpPr/>
          <p:nvPr/>
        </p:nvSpPr>
        <p:spPr>
          <a:xfrm>
            <a:off x="1021080" y="4587241"/>
            <a:ext cx="125730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9A23B"/>
                </a:solidFill>
                <a:latin typeface="Domine" pitchFamily="18" charset="0"/>
                <a:ea typeface="Domine" pitchFamily="18" charset="-122"/>
                <a:cs typeface="Domine" pitchFamily="18" charset="-120"/>
              </a:rPr>
              <a:t>Recommend</a:t>
            </a:r>
            <a:endParaRPr lang="en-US" sz="1600" dirty="0"/>
          </a:p>
        </p:txBody>
      </p:sp>
      <p:sp>
        <p:nvSpPr>
          <p:cNvPr id="15" name="Text 13"/>
          <p:cNvSpPr/>
          <p:nvPr/>
        </p:nvSpPr>
        <p:spPr>
          <a:xfrm>
            <a:off x="2379980" y="4724400"/>
            <a:ext cx="34036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Nunito Sans" pitchFamily="34" charset="0"/>
                <a:ea typeface="Nunito Sans" pitchFamily="34" charset="-122"/>
                <a:cs typeface="Nunito Sans" pitchFamily="34" charset="-120"/>
              </a:rPr>
              <a:t>When farmers should irrigate their crops</a:t>
            </a:r>
            <a:endParaRPr lang="en-US" sz="1200" dirty="0"/>
          </a:p>
        </p:txBody>
      </p:sp>
      <p:sp>
        <p:nvSpPr>
          <p:cNvPr id="16" name="Shape 14"/>
          <p:cNvSpPr/>
          <p:nvPr/>
        </p:nvSpPr>
        <p:spPr>
          <a:xfrm>
            <a:off x="6299200" y="812800"/>
            <a:ext cx="5080000" cy="4033520"/>
          </a:xfrm>
          <a:prstGeom prst="roundRect">
            <a:avLst>
              <a:gd name="adj" fmla="val 3778"/>
            </a:avLst>
          </a:prstGeom>
          <a:solidFill>
            <a:srgbClr val="F4F1E8"/>
          </a:solidFill>
          <a:ln/>
        </p:spPr>
        <p:txBody>
          <a:bodyPr/>
          <a:lstStyle/>
          <a:p>
            <a:endParaRPr lang="en-US"/>
          </a:p>
        </p:txBody>
      </p:sp>
      <p:sp>
        <p:nvSpPr>
          <p:cNvPr id="17" name="Text 15"/>
          <p:cNvSpPr/>
          <p:nvPr/>
        </p:nvSpPr>
        <p:spPr>
          <a:xfrm>
            <a:off x="6553200" y="1102361"/>
            <a:ext cx="279977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Farm Water Monitoring</a:t>
            </a:r>
            <a:endParaRPr lang="en-US" sz="1600" dirty="0"/>
          </a:p>
        </p:txBody>
      </p:sp>
      <p:sp>
        <p:nvSpPr>
          <p:cNvPr id="18" name="Text 16"/>
          <p:cNvSpPr/>
          <p:nvPr/>
        </p:nvSpPr>
        <p:spPr>
          <a:xfrm>
            <a:off x="9866233" y="1066800"/>
            <a:ext cx="1258967" cy="314960"/>
          </a:xfrm>
          <a:prstGeom prst="roundRect">
            <a:avLst>
              <a:gd name="adj" fmla="val 50000"/>
            </a:avLst>
          </a:prstGeom>
          <a:solidFill>
            <a:srgbClr val="E9A23B"/>
          </a:solidFill>
          <a:ln/>
        </p:spPr>
        <p:txBody>
          <a:bodyPr wrap="none" lIns="0" tIns="0" rIns="0" bIns="0" rtlCol="0" anchor="ctr">
            <a:normAutofit/>
          </a:bodyPr>
          <a:lstStyle/>
          <a:p>
            <a:pPr marL="0" indent="0" algn="ctr">
              <a:lnSpc>
                <a:spcPts val="1680"/>
              </a:lnSpc>
              <a:buNone/>
            </a:pPr>
            <a:r>
              <a:rPr lang="en-US" sz="1200" b="1" dirty="0">
                <a:solidFill>
                  <a:srgbClr val="0F2A2E"/>
                </a:solidFill>
                <a:latin typeface="Nunito Sans" pitchFamily="34" charset="0"/>
                <a:ea typeface="Nunito Sans" pitchFamily="34" charset="-122"/>
                <a:cs typeface="Nunito Sans" pitchFamily="34" charset="-120"/>
              </a:rPr>
              <a:t>Water needed</a:t>
            </a:r>
            <a:endParaRPr lang="en-US" sz="1200" dirty="0"/>
          </a:p>
        </p:txBody>
      </p:sp>
      <p:sp>
        <p:nvSpPr>
          <p:cNvPr id="19" name="Shape 17"/>
          <p:cNvSpPr/>
          <p:nvPr/>
        </p:nvSpPr>
        <p:spPr>
          <a:xfrm>
            <a:off x="6556375" y="1537336"/>
            <a:ext cx="2203450" cy="801370"/>
          </a:xfrm>
          <a:prstGeom prst="roundRect">
            <a:avLst>
              <a:gd name="adj" fmla="val 9113"/>
            </a:avLst>
          </a:prstGeom>
          <a:solidFill>
            <a:srgbClr val="FBFAF5"/>
          </a:solidFill>
          <a:ln w="6350">
            <a:solidFill>
              <a:srgbClr val="DDD8C8"/>
            </a:solidFill>
            <a:prstDash val="solid"/>
          </a:ln>
        </p:spPr>
        <p:txBody>
          <a:bodyPr/>
          <a:lstStyle/>
          <a:p>
            <a:endParaRPr lang="en-US"/>
          </a:p>
        </p:txBody>
      </p:sp>
      <p:sp>
        <p:nvSpPr>
          <p:cNvPr id="20" name="Text 18"/>
          <p:cNvSpPr/>
          <p:nvPr/>
        </p:nvSpPr>
        <p:spPr>
          <a:xfrm>
            <a:off x="6685280" y="1666241"/>
            <a:ext cx="20040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67"/>
                </a:solidFill>
                <a:latin typeface="Nunito Sans" pitchFamily="34" charset="0"/>
                <a:ea typeface="Nunito Sans" pitchFamily="34" charset="-122"/>
                <a:cs typeface="Nunito Sans" pitchFamily="34" charset="-120"/>
              </a:rPr>
              <a:t>Soil moisture</a:t>
            </a:r>
            <a:endParaRPr lang="en-US" sz="1200" dirty="0"/>
          </a:p>
        </p:txBody>
      </p:sp>
      <p:sp>
        <p:nvSpPr>
          <p:cNvPr id="21" name="Text 19"/>
          <p:cNvSpPr/>
          <p:nvPr/>
        </p:nvSpPr>
        <p:spPr>
          <a:xfrm>
            <a:off x="6685280" y="1905000"/>
            <a:ext cx="200400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E"/>
                </a:solidFill>
                <a:latin typeface="Domine" pitchFamily="18" charset="0"/>
                <a:ea typeface="Domine" pitchFamily="18" charset="-122"/>
                <a:cs typeface="Domine" pitchFamily="18" charset="-120"/>
              </a:rPr>
              <a:t>20%</a:t>
            </a:r>
            <a:endParaRPr lang="en-US" sz="2000" dirty="0"/>
          </a:p>
        </p:txBody>
      </p:sp>
      <p:sp>
        <p:nvSpPr>
          <p:cNvPr id="22" name="Shape 20"/>
          <p:cNvSpPr/>
          <p:nvPr/>
        </p:nvSpPr>
        <p:spPr>
          <a:xfrm>
            <a:off x="8918575" y="1537336"/>
            <a:ext cx="2203450" cy="801370"/>
          </a:xfrm>
          <a:prstGeom prst="roundRect">
            <a:avLst>
              <a:gd name="adj" fmla="val 9113"/>
            </a:avLst>
          </a:prstGeom>
          <a:solidFill>
            <a:srgbClr val="FBFAF5"/>
          </a:solidFill>
          <a:ln w="6350">
            <a:solidFill>
              <a:srgbClr val="DDD8C8"/>
            </a:solidFill>
            <a:prstDash val="solid"/>
          </a:ln>
        </p:spPr>
        <p:txBody>
          <a:bodyPr/>
          <a:lstStyle/>
          <a:p>
            <a:endParaRPr lang="en-US"/>
          </a:p>
        </p:txBody>
      </p:sp>
      <p:sp>
        <p:nvSpPr>
          <p:cNvPr id="23" name="Text 21"/>
          <p:cNvSpPr/>
          <p:nvPr/>
        </p:nvSpPr>
        <p:spPr>
          <a:xfrm>
            <a:off x="9047480" y="1666241"/>
            <a:ext cx="20040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67"/>
                </a:solidFill>
                <a:latin typeface="Nunito Sans" pitchFamily="34" charset="0"/>
                <a:ea typeface="Nunito Sans" pitchFamily="34" charset="-122"/>
                <a:cs typeface="Nunito Sans" pitchFamily="34" charset="-120"/>
              </a:rPr>
              <a:t>Temperature</a:t>
            </a:r>
            <a:endParaRPr lang="en-US" sz="1200" dirty="0"/>
          </a:p>
        </p:txBody>
      </p:sp>
      <p:sp>
        <p:nvSpPr>
          <p:cNvPr id="24" name="Text 22"/>
          <p:cNvSpPr/>
          <p:nvPr/>
        </p:nvSpPr>
        <p:spPr>
          <a:xfrm>
            <a:off x="9047480" y="1905000"/>
            <a:ext cx="200400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E"/>
                </a:solidFill>
                <a:latin typeface="Domine" pitchFamily="18" charset="0"/>
                <a:ea typeface="Domine" pitchFamily="18" charset="-122"/>
                <a:cs typeface="Domine" pitchFamily="18" charset="-120"/>
              </a:rPr>
              <a:t>35°C</a:t>
            </a:r>
            <a:endParaRPr lang="en-US" sz="2000" dirty="0"/>
          </a:p>
        </p:txBody>
      </p:sp>
      <p:sp>
        <p:nvSpPr>
          <p:cNvPr id="25" name="Shape 23"/>
          <p:cNvSpPr/>
          <p:nvPr/>
        </p:nvSpPr>
        <p:spPr>
          <a:xfrm>
            <a:off x="6556375" y="2497455"/>
            <a:ext cx="2203450" cy="801370"/>
          </a:xfrm>
          <a:prstGeom prst="roundRect">
            <a:avLst>
              <a:gd name="adj" fmla="val 9113"/>
            </a:avLst>
          </a:prstGeom>
          <a:solidFill>
            <a:srgbClr val="FBFAF5"/>
          </a:solidFill>
          <a:ln w="6350">
            <a:solidFill>
              <a:srgbClr val="DDD8C8"/>
            </a:solidFill>
            <a:prstDash val="solid"/>
          </a:ln>
        </p:spPr>
        <p:txBody>
          <a:bodyPr/>
          <a:lstStyle/>
          <a:p>
            <a:endParaRPr lang="en-US"/>
          </a:p>
        </p:txBody>
      </p:sp>
      <p:sp>
        <p:nvSpPr>
          <p:cNvPr id="26" name="Text 24"/>
          <p:cNvSpPr/>
          <p:nvPr/>
        </p:nvSpPr>
        <p:spPr>
          <a:xfrm>
            <a:off x="6685280" y="2626361"/>
            <a:ext cx="20040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67"/>
                </a:solidFill>
                <a:latin typeface="Nunito Sans" pitchFamily="34" charset="0"/>
                <a:ea typeface="Nunito Sans" pitchFamily="34" charset="-122"/>
                <a:cs typeface="Nunito Sans" pitchFamily="34" charset="-120"/>
              </a:rPr>
              <a:t>Rainfall forecast</a:t>
            </a:r>
            <a:endParaRPr lang="en-US" sz="1200" dirty="0"/>
          </a:p>
        </p:txBody>
      </p:sp>
      <p:sp>
        <p:nvSpPr>
          <p:cNvPr id="27" name="Text 25"/>
          <p:cNvSpPr/>
          <p:nvPr/>
        </p:nvSpPr>
        <p:spPr>
          <a:xfrm>
            <a:off x="6685280" y="2865120"/>
            <a:ext cx="200400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E"/>
                </a:solidFill>
                <a:latin typeface="Domine" pitchFamily="18" charset="0"/>
                <a:ea typeface="Domine" pitchFamily="18" charset="-122"/>
                <a:cs typeface="Domine" pitchFamily="18" charset="-120"/>
              </a:rPr>
              <a:t>Low</a:t>
            </a:r>
            <a:endParaRPr lang="en-US" sz="2000" dirty="0"/>
          </a:p>
        </p:txBody>
      </p:sp>
      <p:sp>
        <p:nvSpPr>
          <p:cNvPr id="28" name="Shape 26"/>
          <p:cNvSpPr/>
          <p:nvPr/>
        </p:nvSpPr>
        <p:spPr>
          <a:xfrm>
            <a:off x="8918575" y="2497455"/>
            <a:ext cx="2203450" cy="801370"/>
          </a:xfrm>
          <a:prstGeom prst="roundRect">
            <a:avLst>
              <a:gd name="adj" fmla="val 9113"/>
            </a:avLst>
          </a:prstGeom>
          <a:solidFill>
            <a:srgbClr val="FBFAF5"/>
          </a:solidFill>
          <a:ln w="6350">
            <a:solidFill>
              <a:srgbClr val="DDD8C8"/>
            </a:solidFill>
            <a:prstDash val="solid"/>
          </a:ln>
        </p:spPr>
        <p:txBody>
          <a:bodyPr/>
          <a:lstStyle/>
          <a:p>
            <a:endParaRPr lang="en-US"/>
          </a:p>
        </p:txBody>
      </p:sp>
      <p:sp>
        <p:nvSpPr>
          <p:cNvPr id="29" name="Text 27"/>
          <p:cNvSpPr/>
          <p:nvPr/>
        </p:nvSpPr>
        <p:spPr>
          <a:xfrm>
            <a:off x="9047480" y="2626361"/>
            <a:ext cx="20040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67"/>
                </a:solidFill>
                <a:latin typeface="Nunito Sans" pitchFamily="34" charset="0"/>
                <a:ea typeface="Nunito Sans" pitchFamily="34" charset="-122"/>
                <a:cs typeface="Nunito Sans" pitchFamily="34" charset="-120"/>
              </a:rPr>
              <a:t>Water requirement</a:t>
            </a:r>
            <a:endParaRPr lang="en-US" sz="1200" dirty="0"/>
          </a:p>
        </p:txBody>
      </p:sp>
      <p:sp>
        <p:nvSpPr>
          <p:cNvPr id="30" name="Text 28"/>
          <p:cNvSpPr/>
          <p:nvPr/>
        </p:nvSpPr>
        <p:spPr>
          <a:xfrm>
            <a:off x="9047480" y="2865120"/>
            <a:ext cx="200400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2A2E"/>
                </a:solidFill>
                <a:latin typeface="Domine" pitchFamily="18" charset="0"/>
                <a:ea typeface="Domine" pitchFamily="18" charset="-122"/>
                <a:cs typeface="Domine" pitchFamily="18" charset="-120"/>
              </a:rPr>
              <a:t>High</a:t>
            </a:r>
            <a:endParaRPr lang="en-US" sz="2000" dirty="0"/>
          </a:p>
        </p:txBody>
      </p:sp>
      <p:sp>
        <p:nvSpPr>
          <p:cNvPr id="31" name="Shape 29"/>
          <p:cNvSpPr/>
          <p:nvPr/>
        </p:nvSpPr>
        <p:spPr>
          <a:xfrm>
            <a:off x="6553200" y="3454400"/>
            <a:ext cx="4572000" cy="1137920"/>
          </a:xfrm>
          <a:prstGeom prst="roundRect">
            <a:avLst>
              <a:gd name="adj" fmla="val 6696"/>
            </a:avLst>
          </a:prstGeom>
          <a:solidFill>
            <a:srgbClr val="0F2A2E"/>
          </a:solidFill>
          <a:ln/>
        </p:spPr>
        <p:txBody>
          <a:bodyPr/>
          <a:lstStyle/>
          <a:p>
            <a:endParaRPr lang="en-US"/>
          </a:p>
        </p:txBody>
      </p:sp>
      <p:sp>
        <p:nvSpPr>
          <p:cNvPr id="32" name="Text 30"/>
          <p:cNvSpPr/>
          <p:nvPr/>
        </p:nvSpPr>
        <p:spPr>
          <a:xfrm>
            <a:off x="6705600" y="3606800"/>
            <a:ext cx="439521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9A23B"/>
                </a:solidFill>
                <a:latin typeface="Nunito Sans" pitchFamily="34" charset="0"/>
                <a:ea typeface="Nunito Sans" pitchFamily="34" charset="-122"/>
                <a:cs typeface="Nunito Sans" pitchFamily="34" charset="-120"/>
              </a:rPr>
              <a:t>RECOMMENDATION</a:t>
            </a:r>
            <a:endParaRPr lang="en-US" sz="1200" dirty="0"/>
          </a:p>
        </p:txBody>
      </p:sp>
      <p:sp>
        <p:nvSpPr>
          <p:cNvPr id="33" name="Text 31"/>
          <p:cNvSpPr/>
          <p:nvPr/>
        </p:nvSpPr>
        <p:spPr>
          <a:xfrm>
            <a:off x="6705600" y="3870961"/>
            <a:ext cx="4395216"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E8"/>
                </a:solidFill>
                <a:latin typeface="Nunito Sans" pitchFamily="34" charset="0"/>
                <a:ea typeface="Nunito Sans" pitchFamily="34" charset="-122"/>
                <a:cs typeface="Nunito Sans" pitchFamily="34" charset="-120"/>
              </a:rPr>
              <a:t>Check crop water requirements and irrigate if needed to prevent water stress.</a:t>
            </a:r>
            <a:endParaRPr lang="en-US" sz="1600" dirty="0"/>
          </a:p>
        </p:txBody>
      </p:sp>
      <p:sp>
        <p:nvSpPr>
          <p:cNvPr id="34" name="Text 32"/>
          <p:cNvSpPr/>
          <p:nvPr/>
        </p:nvSpPr>
        <p:spPr>
          <a:xfrm>
            <a:off x="6299200" y="4998720"/>
            <a:ext cx="52324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0AD"/>
                </a:solidFill>
                <a:latin typeface="Nunito Sans" pitchFamily="34" charset="0"/>
                <a:ea typeface="Nunito Sans" pitchFamily="34" charset="-122"/>
                <a:cs typeface="Nunito Sans" pitchFamily="34" charset="-120"/>
              </a:rPr>
              <a:t>Illustrative example only. Real decisions depend on crop type, soil conditions and calibrated measurements.</a:t>
            </a:r>
            <a:endParaRPr lang="en-US" sz="1200" dirty="0"/>
          </a:p>
        </p:txBody>
      </p:sp>
      <p:sp>
        <p:nvSpPr>
          <p:cNvPr id="35" name="Text 33"/>
          <p:cNvSpPr/>
          <p:nvPr/>
        </p:nvSpPr>
        <p:spPr>
          <a:xfrm>
            <a:off x="812800" y="6238239"/>
            <a:ext cx="27181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0AD"/>
                </a:solidFill>
                <a:latin typeface="Nunito Sans" pitchFamily="34" charset="0"/>
                <a:ea typeface="Nunito Sans" pitchFamily="34" charset="-122"/>
                <a:cs typeface="Nunito Sans" pitchFamily="34" charset="-120"/>
              </a:rPr>
              <a:t>Data Science in Agriculture  4 / 5</a:t>
            </a:r>
            <a:endParaRPr lang="en-US" sz="1200" dirty="0"/>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A6F65"/>
                </a:solidFill>
                <a:latin typeface="Nunito Sans" pitchFamily="34" charset="0"/>
                <a:ea typeface="Nunito Sans" pitchFamily="34" charset="-122"/>
                <a:cs typeface="Nunito Sans" pitchFamily="34" charset="-120"/>
              </a:rPr>
              <a:t>04 · BENEFITS, CHALLENGES AND CONCLUSION</a:t>
            </a:r>
            <a:endParaRPr lang="en-US" sz="1200" dirty="0"/>
          </a:p>
        </p:txBody>
      </p:sp>
      <p:sp>
        <p:nvSpPr>
          <p:cNvPr id="3" name="Text 1"/>
          <p:cNvSpPr>
            <a:spLocks noGrp="1"/>
          </p:cNvSpPr>
          <p:nvPr>
            <p:ph type="title"/>
          </p:nvPr>
        </p:nvSpPr>
        <p:spPr>
          <a:xfrm>
            <a:off x="812800" y="11277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2A2E"/>
                </a:solidFill>
                <a:latin typeface="Domine" pitchFamily="18" charset="0"/>
                <a:ea typeface="Domine" pitchFamily="18" charset="-122"/>
                <a:cs typeface="Domine" pitchFamily="18" charset="-120"/>
              </a:rPr>
              <a:t>Benefits, challenges and conclusion</a:t>
            </a:r>
            <a:endParaRPr lang="en-US" sz="3200" dirty="0"/>
          </a:p>
        </p:txBody>
      </p:sp>
      <p:sp>
        <p:nvSpPr>
          <p:cNvPr id="4" name="Shape 2"/>
          <p:cNvSpPr/>
          <p:nvPr/>
        </p:nvSpPr>
        <p:spPr>
          <a:xfrm>
            <a:off x="717169" y="1903096"/>
            <a:ext cx="3380264" cy="2000250"/>
          </a:xfrm>
          <a:prstGeom prst="roundRect">
            <a:avLst>
              <a:gd name="adj" fmla="val 4921"/>
            </a:avLst>
          </a:prstGeom>
          <a:solidFill>
            <a:srgbClr val="FBFAF5"/>
          </a:solidFill>
          <a:ln w="6350">
            <a:solidFill>
              <a:srgbClr val="DDD8C8"/>
            </a:solidFill>
            <a:prstDash val="solid"/>
          </a:ln>
        </p:spPr>
        <p:txBody>
          <a:bodyPr/>
          <a:lstStyle/>
          <a:p>
            <a:endParaRPr lang="en-US"/>
          </a:p>
        </p:txBody>
      </p:sp>
      <p:sp>
        <p:nvSpPr>
          <p:cNvPr id="5" name="Text 3"/>
          <p:cNvSpPr/>
          <p:nvPr/>
        </p:nvSpPr>
        <p:spPr>
          <a:xfrm>
            <a:off x="973074" y="2159000"/>
            <a:ext cx="29545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Benefits</a:t>
            </a:r>
            <a:endParaRPr lang="en-US" sz="1600" dirty="0"/>
          </a:p>
        </p:txBody>
      </p:sp>
      <p:sp>
        <p:nvSpPr>
          <p:cNvPr id="6" name="Text 4"/>
          <p:cNvSpPr/>
          <p:nvPr/>
        </p:nvSpPr>
        <p:spPr>
          <a:xfrm>
            <a:off x="1071880" y="2504439"/>
            <a:ext cx="2848081" cy="9398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Save water</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Reduce crop losses</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Improve crop production</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Better irrigation decisions</a:t>
            </a:r>
            <a:endParaRPr lang="en-US" sz="1200" dirty="0"/>
          </a:p>
        </p:txBody>
      </p:sp>
      <p:sp>
        <p:nvSpPr>
          <p:cNvPr id="7" name="Shape 5"/>
          <p:cNvSpPr/>
          <p:nvPr/>
        </p:nvSpPr>
        <p:spPr>
          <a:xfrm>
            <a:off x="4306983" y="1903096"/>
            <a:ext cx="3380343" cy="2000250"/>
          </a:xfrm>
          <a:prstGeom prst="roundRect">
            <a:avLst>
              <a:gd name="adj" fmla="val 4921"/>
            </a:avLst>
          </a:prstGeom>
          <a:solidFill>
            <a:srgbClr val="FBFAF5"/>
          </a:solidFill>
          <a:ln w="6350">
            <a:solidFill>
              <a:srgbClr val="DDD8C8"/>
            </a:solidFill>
            <a:prstDash val="solid"/>
          </a:ln>
        </p:spPr>
        <p:txBody>
          <a:bodyPr/>
          <a:lstStyle/>
          <a:p>
            <a:endParaRPr lang="en-US"/>
          </a:p>
        </p:txBody>
      </p:sp>
      <p:sp>
        <p:nvSpPr>
          <p:cNvPr id="8" name="Text 6"/>
          <p:cNvSpPr/>
          <p:nvPr/>
        </p:nvSpPr>
        <p:spPr>
          <a:xfrm>
            <a:off x="4562888" y="2159000"/>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Challenges</a:t>
            </a:r>
            <a:endParaRPr lang="en-US" sz="1600" dirty="0"/>
          </a:p>
        </p:txBody>
      </p:sp>
      <p:sp>
        <p:nvSpPr>
          <p:cNvPr id="9" name="Text 7"/>
          <p:cNvSpPr/>
          <p:nvPr/>
        </p:nvSpPr>
        <p:spPr>
          <a:xfrm>
            <a:off x="4661694" y="2504439"/>
            <a:ext cx="2848163" cy="11684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Missing or inaccurate data</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High cost of sensors</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Poor rural internet</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Unpredictable weather</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Limited technical knowledge</a:t>
            </a:r>
            <a:endParaRPr lang="en-US" sz="1200" dirty="0"/>
          </a:p>
        </p:txBody>
      </p:sp>
      <p:sp>
        <p:nvSpPr>
          <p:cNvPr id="10" name="Shape 8"/>
          <p:cNvSpPr/>
          <p:nvPr/>
        </p:nvSpPr>
        <p:spPr>
          <a:xfrm>
            <a:off x="7995682" y="1903096"/>
            <a:ext cx="3380343" cy="2000250"/>
          </a:xfrm>
          <a:prstGeom prst="roundRect">
            <a:avLst>
              <a:gd name="adj" fmla="val 4921"/>
            </a:avLst>
          </a:prstGeom>
          <a:solidFill>
            <a:srgbClr val="FBFAF5"/>
          </a:solidFill>
          <a:ln w="6350">
            <a:solidFill>
              <a:srgbClr val="DDD8C8"/>
            </a:solidFill>
            <a:prstDash val="solid"/>
          </a:ln>
        </p:spPr>
        <p:txBody>
          <a:bodyPr/>
          <a:lstStyle/>
          <a:p>
            <a:endParaRPr lang="en-US"/>
          </a:p>
        </p:txBody>
      </p:sp>
      <p:sp>
        <p:nvSpPr>
          <p:cNvPr id="11" name="Text 9"/>
          <p:cNvSpPr/>
          <p:nvPr/>
        </p:nvSpPr>
        <p:spPr>
          <a:xfrm>
            <a:off x="8152781" y="2159000"/>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2E"/>
                </a:solidFill>
                <a:latin typeface="Domine" pitchFamily="18" charset="0"/>
                <a:ea typeface="Domine" pitchFamily="18" charset="-122"/>
                <a:cs typeface="Domine" pitchFamily="18" charset="-120"/>
              </a:rPr>
              <a:t>Ethical concerns</a:t>
            </a:r>
            <a:endParaRPr lang="en-US" sz="1600" dirty="0"/>
          </a:p>
        </p:txBody>
      </p:sp>
      <p:sp>
        <p:nvSpPr>
          <p:cNvPr id="12" name="Text 10"/>
          <p:cNvSpPr/>
          <p:nvPr/>
        </p:nvSpPr>
        <p:spPr>
          <a:xfrm>
            <a:off x="8251587" y="2504439"/>
            <a:ext cx="2848163" cy="11684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Privacy of farm data</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Fair access for small farmers</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Secure data storage</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Accurate predictions</a:t>
            </a:r>
            <a:endParaRPr lang="en-US" sz="1200" dirty="0"/>
          </a:p>
          <a:p>
            <a:pPr marL="155194" indent="-155194" algn="l">
              <a:lnSpc>
                <a:spcPts val="1800"/>
              </a:lnSpc>
              <a:buSzPct val="100000"/>
              <a:buChar char="•"/>
            </a:pPr>
            <a:r>
              <a:rPr lang="en-US" sz="1200" dirty="0">
                <a:solidFill>
                  <a:srgbClr val="3A4A4C"/>
                </a:solidFill>
                <a:latin typeface="Nunito Sans" pitchFamily="34" charset="0"/>
                <a:ea typeface="Nunito Sans" pitchFamily="34" charset="-122"/>
                <a:cs typeface="Nunito Sans" pitchFamily="34" charset="-120"/>
              </a:rPr>
              <a:t>Transparent recommendations</a:t>
            </a:r>
            <a:endParaRPr lang="en-US" sz="1200" dirty="0"/>
          </a:p>
        </p:txBody>
      </p:sp>
      <p:sp>
        <p:nvSpPr>
          <p:cNvPr id="13" name="Text 11"/>
          <p:cNvSpPr/>
          <p:nvPr/>
        </p:nvSpPr>
        <p:spPr>
          <a:xfrm>
            <a:off x="812800" y="4211321"/>
            <a:ext cx="10566400" cy="975360"/>
          </a:xfrm>
          <a:prstGeom prst="roundRect">
            <a:avLst>
              <a:gd name="adj" fmla="val 10417"/>
            </a:avLst>
          </a:prstGeom>
          <a:solidFill>
            <a:srgbClr val="0F2A2E"/>
          </a:solidFill>
          <a:ln/>
        </p:spPr>
        <p:txBody>
          <a:bodyPr wrap="square" lIns="224242" tIns="173442" rIns="0" bIns="148042" rtlCol="0" anchor="t">
            <a:normAutofit/>
          </a:bodyPr>
          <a:lstStyle/>
          <a:p>
            <a:pPr marL="0" indent="0" algn="l">
              <a:lnSpc>
                <a:spcPts val="2240"/>
              </a:lnSpc>
              <a:buNone/>
            </a:pPr>
            <a:r>
              <a:rPr lang="en-US" sz="1600" b="1" dirty="0">
                <a:solidFill>
                  <a:srgbClr val="E9A23B"/>
                </a:solidFill>
                <a:latin typeface="Nunito Sans" pitchFamily="34" charset="0"/>
                <a:ea typeface="Nunito Sans" pitchFamily="34" charset="-122"/>
                <a:cs typeface="Nunito Sans" pitchFamily="34" charset="-120"/>
              </a:rPr>
              <a:t>Conclusion:</a:t>
            </a:r>
            <a:r>
              <a:rPr lang="en-US" sz="1600" b="1" dirty="0">
                <a:solidFill>
                  <a:srgbClr val="F4F1E8"/>
                </a:solidFill>
                <a:latin typeface="Nunito Sans" pitchFamily="34" charset="0"/>
                <a:ea typeface="Nunito Sans" pitchFamily="34" charset="-122"/>
                <a:cs typeface="Nunito Sans" pitchFamily="34" charset="-120"/>
              </a:rPr>
              <a:t> Data Science can turn rainfall, temperature, soil moisture and crop data into better irrigation decisions.</a:t>
            </a:r>
            <a:endParaRPr lang="en-US" sz="1600" dirty="0"/>
          </a:p>
        </p:txBody>
      </p:sp>
      <p:sp>
        <p:nvSpPr>
          <p:cNvPr id="14" name="Text 12"/>
          <p:cNvSpPr/>
          <p:nvPr/>
        </p:nvSpPr>
        <p:spPr>
          <a:xfrm>
            <a:off x="812800" y="6238239"/>
            <a:ext cx="27181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67"/>
                </a:solidFill>
                <a:latin typeface="Nunito Sans" pitchFamily="34" charset="0"/>
                <a:ea typeface="Nunito Sans" pitchFamily="34" charset="-122"/>
                <a:cs typeface="Nunito Sans" pitchFamily="34" charset="-120"/>
              </a:rPr>
              <a:t>Data Science in Agriculture  5 / 5</a:t>
            </a:r>
            <a:endParaRPr lang="en-US" sz="1200" dirty="0"/>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a:extLst>
            <a:ext uri="{FF2B5EF4-FFF2-40B4-BE49-F238E27FC236}">
              <a16:creationId xmlns:a16="http://schemas.microsoft.com/office/drawing/2014/main" id="{A04516AA-D01D-E4DC-65AD-1470B78E02BB}"/>
            </a:ext>
          </a:extLst>
        </p:cNvPr>
        <p:cNvGrpSpPr/>
        <p:nvPr/>
      </p:nvGrpSpPr>
      <p:grpSpPr>
        <a:xfrm>
          <a:off x="0" y="0"/>
          <a:ext cx="0" cy="0"/>
          <a:chOff x="0" y="0"/>
          <a:chExt cx="0" cy="0"/>
        </a:xfrm>
      </p:grpSpPr>
      <p:sp>
        <p:nvSpPr>
          <p:cNvPr id="14" name="Text 12">
            <a:extLst>
              <a:ext uri="{FF2B5EF4-FFF2-40B4-BE49-F238E27FC236}">
                <a16:creationId xmlns:a16="http://schemas.microsoft.com/office/drawing/2014/main" id="{341A5281-4F63-1196-7003-5E01B25BDA33}"/>
              </a:ext>
            </a:extLst>
          </p:cNvPr>
          <p:cNvSpPr/>
          <p:nvPr/>
        </p:nvSpPr>
        <p:spPr>
          <a:xfrm>
            <a:off x="812800" y="6238239"/>
            <a:ext cx="27181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67"/>
                </a:solidFill>
                <a:latin typeface="Nunito Sans" pitchFamily="34" charset="0"/>
                <a:ea typeface="Nunito Sans" pitchFamily="34" charset="-122"/>
                <a:cs typeface="Nunito Sans" pitchFamily="34" charset="-120"/>
              </a:rPr>
              <a:t>Data Science in Agriculture </a:t>
            </a:r>
            <a:endParaRPr lang="en-US" sz="1200" dirty="0"/>
          </a:p>
        </p:txBody>
      </p:sp>
      <p:sp>
        <p:nvSpPr>
          <p:cNvPr id="16" name="Title 15">
            <a:extLst>
              <a:ext uri="{FF2B5EF4-FFF2-40B4-BE49-F238E27FC236}">
                <a16:creationId xmlns:a16="http://schemas.microsoft.com/office/drawing/2014/main" id="{C5C97C77-3000-2E63-AA7A-E2D0BE4B0322}"/>
              </a:ext>
            </a:extLst>
          </p:cNvPr>
          <p:cNvSpPr>
            <a:spLocks noGrp="1"/>
          </p:cNvSpPr>
          <p:nvPr>
            <p:ph type="title"/>
          </p:nvPr>
        </p:nvSpPr>
        <p:spPr>
          <a:xfrm>
            <a:off x="-322729" y="2067263"/>
            <a:ext cx="12720917" cy="1509656"/>
          </a:xfrm>
          <a:solidFill>
            <a:schemeClr val="accent4">
              <a:lumMod val="75000"/>
            </a:schemeClr>
          </a:solidFill>
        </p:spPr>
        <p:txBody>
          <a:bodyPr/>
          <a:lstStyle/>
          <a:p>
            <a:pPr algn="ctr"/>
            <a:r>
              <a:rPr lang="en-US" sz="8800" dirty="0">
                <a:ln w="0"/>
                <a:solidFill>
                  <a:schemeClr val="bg1"/>
                </a:solidFill>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963554732"/>
      </p:ext>
    </p:extLst>
  </p:cSld>
  <p:clrMapOvr>
    <a:masterClrMapping/>
  </p:clrMapOvr>
</p:sld>
</file>

<file path=ppt/theme/theme1.xml><?xml version="1.0" encoding="utf-8"?>
<a:theme xmlns:a="http://schemas.openxmlformats.org/drawingml/2006/main" name="Water Shortages and Low Crop Production">
  <a:themeElements>
    <a:clrScheme name="Water Shortages and Low Crop Production">
      <a:dk1>
        <a:srgbClr val="0F2A2E"/>
      </a:dk1>
      <a:lt1>
        <a:srgbClr val="F4F1E8"/>
      </a:lt1>
      <a:dk2>
        <a:srgbClr val="485C5D"/>
      </a:dk2>
      <a:lt2>
        <a:srgbClr val="DDDDD5"/>
      </a:lt2>
      <a:accent1>
        <a:srgbClr val="E9A23B"/>
      </a:accent1>
      <a:accent2>
        <a:srgbClr val="1A6F65"/>
      </a:accent2>
      <a:accent3>
        <a:srgbClr val="5CC8B8"/>
      </a:accent3>
      <a:accent4>
        <a:srgbClr val="3A4A4C"/>
      </a:accent4>
      <a:accent5>
        <a:srgbClr val="5A6567"/>
      </a:accent5>
      <a:accent6>
        <a:srgbClr val="BFD8D5"/>
      </a:accent6>
      <a:hlink>
        <a:srgbClr val="0563C1"/>
      </a:hlink>
      <a:folHlink>
        <a:srgbClr val="954F72"/>
      </a:folHlink>
    </a:clrScheme>
    <a:fontScheme name="Water Shortages and Low Crop Production">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812</Words>
  <Application>Microsoft Office PowerPoint</Application>
  <PresentationFormat>Widescreen</PresentationFormat>
  <Paragraphs>109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Domine</vt:lpstr>
      <vt:lpstr>Nunito Sans</vt:lpstr>
      <vt:lpstr>Water Shortages and Low Crop Production</vt:lpstr>
      <vt:lpstr>Water Shortages and Low Crop Production</vt:lpstr>
      <vt:lpstr>Water shortages lower harvests and farmer income</vt:lpstr>
      <vt:lpstr>Data needed, sources and types</vt:lpstr>
      <vt:lpstr>What Data Science can do</vt:lpstr>
      <vt:lpstr>Benefits, challenges and 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Shortages and Low Crop Production</dc:title>
  <dc:subject/>
  <dc:creator>Mr. Sovathana</dc:creator>
  <cp:lastModifiedBy>Chhean So Vathana</cp:lastModifiedBy>
  <cp:revision>6</cp:revision>
  <dcterms:created xsi:type="dcterms:W3CDTF">2026-10-16T03:15:42Z</dcterms:created>
  <dcterms:modified xsi:type="dcterms:W3CDTF">2026-10-23T02:34:48Z</dcterms:modified>
</cp:coreProperties>
</file>